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handoutMasterIdLst>
    <p:handoutMasterId r:id="rId18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9"/>
    <p:sldId id="265" r:id="rId7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7" Type="http://schemas.openxmlformats.org/officeDocument/2006/relationships/slide" Target="slides/slide10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9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Relationship Id="rId22" Type="http://schemas.openxmlformats.org/officeDocument/2006/relationships/tags" Target="tags/tag10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tags" Target="../tags/tag1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tags" Target="../tags/tag17.xml"/><Relationship Id="rId7" Type="http://schemas.openxmlformats.org/officeDocument/2006/relationships/tags" Target="../tags/tag18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tags" Target="../tags/tag22.xml"/><Relationship Id="rId6" Type="http://schemas.openxmlformats.org/officeDocument/2006/relationships/tags" Target="../tags/tag23.xml"/><Relationship Id="rId7" Type="http://schemas.openxmlformats.org/officeDocument/2006/relationships/tags" Target="../tags/tag24.xml"/><Relationship Id="rId8" Type="http://schemas.openxmlformats.org/officeDocument/2006/relationships/tags" Target="../tags/tag25.xml"/><Relationship Id="rId9" Type="http://schemas.openxmlformats.org/officeDocument/2006/relationships/tags" Target="../tags/tag26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tags" Target="../tags/tag29.xml"/><Relationship Id="rId5" Type="http://schemas.openxmlformats.org/officeDocument/2006/relationships/tags" Target="../tags/tag30.xml"/><Relationship Id="rId6" Type="http://schemas.openxmlformats.org/officeDocument/2006/relationships/tags" Target="../tags/tag31.xml"/><Relationship Id="rId7" Type="http://schemas.openxmlformats.org/officeDocument/2006/relationships/tags" Target="../tags/tag3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tags" Target="../tags/tag35.xml"/><Relationship Id="rId5" Type="http://schemas.openxmlformats.org/officeDocument/2006/relationships/tags" Target="../tags/tag36.xml"/><Relationship Id="rId6" Type="http://schemas.openxmlformats.org/officeDocument/2006/relationships/tags" Target="../tags/tag37.xml"/><Relationship Id="rId7" Type="http://schemas.openxmlformats.org/officeDocument/2006/relationships/tags" Target="../tags/tag38.xml"/><Relationship Id="rId8" Type="http://schemas.openxmlformats.org/officeDocument/2006/relationships/tags" Target="../tags/tag39.xml"/><Relationship Id="rId9" Type="http://schemas.openxmlformats.org/officeDocument/2006/relationships/tags" Target="../tags/tag40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tags" Target="../tags/tag43.xml"/><Relationship Id="rId5" Type="http://schemas.openxmlformats.org/officeDocument/2006/relationships/tags" Target="../tags/tag4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tags" Target="../tags/tag6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707 (Stroke)_#color-2217&amp;955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0909300" cy="5791200"/>
          </a:xfrm>
          <a:custGeom>
            <a:avLst/>
            <a:gdLst/>
            <a:ahLst/>
            <a:cxnLst/>
            <a:rect l="l" t="t" r="r" b="b"/>
            <a:pathLst>
              <a:path w="10909300" h="5791200">
                <a:moveTo>
                  <a:pt x="0" y="5765800"/>
                </a:moveTo>
                <a:lnTo>
                  <a:pt x="10883900" y="5765800"/>
                </a:lnTo>
                <a:lnTo>
                  <a:pt x="10883900" y="0"/>
                </a:lnTo>
                <a:lnTo>
                  <a:pt x="10909300" y="0"/>
                </a:lnTo>
                <a:lnTo>
                  <a:pt x="10909300" y="5791200"/>
                </a:lnTo>
                <a:lnTo>
                  <a:pt x="0" y="5791200"/>
                </a:lnTo>
                <a:lnTo>
                  <a:pt x="0" y="576580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8" name="Rectangle 41706 (Stroke)_#color-2217&amp;9553"/>
          <p:cNvSpPr/>
          <p:nvPr userDrawn="1">
            <p:custDataLst>
              <p:tags r:id="rId3"/>
            </p:custDataLst>
          </p:nvPr>
        </p:nvSpPr>
        <p:spPr>
          <a:xfrm>
            <a:off x="8953500" y="4521200"/>
            <a:ext cx="3238500" cy="2336800"/>
          </a:xfrm>
          <a:custGeom>
            <a:avLst/>
            <a:gdLst/>
            <a:ahLst/>
            <a:cxnLst/>
            <a:rect l="l" t="t" r="r" b="b"/>
            <a:pathLst>
              <a:path w="3238500" h="2336800">
                <a:moveTo>
                  <a:pt x="3238500" y="0"/>
                </a:moveTo>
                <a:lnTo>
                  <a:pt x="0" y="0"/>
                </a:lnTo>
                <a:lnTo>
                  <a:pt x="0" y="2336800"/>
                </a:lnTo>
                <a:lnTo>
                  <a:pt x="25400" y="2336800"/>
                </a:lnTo>
                <a:lnTo>
                  <a:pt x="25400" y="25400"/>
                </a:lnTo>
                <a:lnTo>
                  <a:pt x="3238500" y="25400"/>
                </a:lnTo>
                <a:lnTo>
                  <a:pt x="323850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1734331" y="369277"/>
            <a:ext cx="8860399" cy="3207972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0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1734331" y="3943799"/>
            <a:ext cx="7101937" cy="1468599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5587" y="857250"/>
            <a:ext cx="10561637" cy="1503413"/>
          </a:xfrm>
        </p:spPr>
        <p:txBody>
          <a:bodyPr wrap="square" anchor="b">
            <a:normAutofit/>
          </a:bodyPr>
          <a:lstStyle>
            <a:lvl1pPr>
              <a:defRPr sz="54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Rectangle 41706 (Stroke)_#color-2217&amp;9559"/>
          <p:cNvSpPr/>
          <p:nvPr userDrawn="1">
            <p:custDataLst>
              <p:tags r:id="rId6"/>
            </p:custDataLst>
          </p:nvPr>
        </p:nvSpPr>
        <p:spPr>
          <a:xfrm>
            <a:off x="10896600" y="215900"/>
            <a:ext cx="1295400" cy="571500"/>
          </a:xfrm>
          <a:custGeom>
            <a:avLst/>
            <a:gdLst/>
            <a:ahLst/>
            <a:cxnLst/>
            <a:rect l="l" t="t" r="r" b="b"/>
            <a:pathLst>
              <a:path w="1295400" h="571500">
                <a:moveTo>
                  <a:pt x="1295400" y="0"/>
                </a:moveTo>
                <a:lnTo>
                  <a:pt x="0" y="0"/>
                </a:lnTo>
                <a:lnTo>
                  <a:pt x="0" y="571500"/>
                </a:lnTo>
                <a:lnTo>
                  <a:pt x="1295400" y="571500"/>
                </a:lnTo>
                <a:lnTo>
                  <a:pt x="1295400" y="546100"/>
                </a:lnTo>
                <a:lnTo>
                  <a:pt x="25400" y="546100"/>
                </a:lnTo>
                <a:lnTo>
                  <a:pt x="25400" y="25400"/>
                </a:lnTo>
                <a:lnTo>
                  <a:pt x="1295400" y="25400"/>
                </a:lnTo>
                <a:lnTo>
                  <a:pt x="129540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5" name="Rectangle 41707 (Stroke)_#color-2217&amp;9562"/>
          <p:cNvSpPr/>
          <p:nvPr userDrawn="1">
            <p:custDataLst>
              <p:tags r:id="rId7"/>
            </p:custDataLst>
          </p:nvPr>
        </p:nvSpPr>
        <p:spPr>
          <a:xfrm>
            <a:off x="8445500" y="0"/>
            <a:ext cx="3251200" cy="508000"/>
          </a:xfrm>
          <a:custGeom>
            <a:avLst/>
            <a:gdLst/>
            <a:ahLst/>
            <a:cxnLst/>
            <a:rect l="l" t="t" r="r" b="b"/>
            <a:pathLst>
              <a:path w="3251200" h="508000">
                <a:moveTo>
                  <a:pt x="25400" y="0"/>
                </a:moveTo>
                <a:lnTo>
                  <a:pt x="25400" y="482600"/>
                </a:lnTo>
                <a:lnTo>
                  <a:pt x="3225800" y="482600"/>
                </a:lnTo>
                <a:lnTo>
                  <a:pt x="3225800" y="0"/>
                </a:lnTo>
                <a:lnTo>
                  <a:pt x="3251200" y="0"/>
                </a:lnTo>
                <a:lnTo>
                  <a:pt x="3251200" y="508000"/>
                </a:lnTo>
                <a:lnTo>
                  <a:pt x="0" y="508000"/>
                </a:lnTo>
                <a:lnTo>
                  <a:pt x="0" y="0"/>
                </a:lnTo>
                <a:lnTo>
                  <a:pt x="25400" y="0"/>
                </a:lnTo>
              </a:path>
            </a:pathLst>
          </a:custGeom>
          <a:solidFill>
            <a:schemeClr val="accent2"/>
          </a:solidFill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96_#color-2179&amp;925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9" name="Rectangle 41707 (Stroke)_#color-2217&amp;9565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0426700" cy="5537200"/>
          </a:xfrm>
          <a:custGeom>
            <a:avLst/>
            <a:gdLst/>
            <a:ahLst/>
            <a:cxnLst/>
            <a:rect l="l" t="t" r="r" b="b"/>
            <a:pathLst>
              <a:path w="10426700" h="5537200">
                <a:moveTo>
                  <a:pt x="0" y="5511800"/>
                </a:moveTo>
                <a:lnTo>
                  <a:pt x="10401300" y="5511800"/>
                </a:lnTo>
                <a:lnTo>
                  <a:pt x="10401300" y="0"/>
                </a:lnTo>
                <a:lnTo>
                  <a:pt x="10426700" y="0"/>
                </a:lnTo>
                <a:lnTo>
                  <a:pt x="10426700" y="5537200"/>
                </a:lnTo>
                <a:lnTo>
                  <a:pt x="0" y="5537200"/>
                </a:lnTo>
                <a:lnTo>
                  <a:pt x="0" y="5511800"/>
                </a:lnTo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</p:spPr>
      </p:sp>
      <p:sp>
        <p:nvSpPr>
          <p:cNvPr id="10" name="Rectangle 41706 (Stroke)_#color-2217&amp;9568"/>
          <p:cNvSpPr/>
          <p:nvPr userDrawn="1">
            <p:custDataLst>
              <p:tags r:id="rId4"/>
            </p:custDataLst>
          </p:nvPr>
        </p:nvSpPr>
        <p:spPr>
          <a:xfrm>
            <a:off x="8572500" y="4267200"/>
            <a:ext cx="3619500" cy="2590800"/>
          </a:xfrm>
          <a:custGeom>
            <a:avLst/>
            <a:gdLst/>
            <a:ahLst/>
            <a:cxnLst/>
            <a:rect l="l" t="t" r="r" b="b"/>
            <a:pathLst>
              <a:path w="3619500" h="2590800">
                <a:moveTo>
                  <a:pt x="3619500" y="0"/>
                </a:moveTo>
                <a:lnTo>
                  <a:pt x="0" y="0"/>
                </a:lnTo>
                <a:lnTo>
                  <a:pt x="0" y="2590800"/>
                </a:lnTo>
                <a:lnTo>
                  <a:pt x="25400" y="2590800"/>
                </a:lnTo>
                <a:lnTo>
                  <a:pt x="25400" y="25400"/>
                </a:lnTo>
                <a:lnTo>
                  <a:pt x="3619500" y="25400"/>
                </a:lnTo>
                <a:lnTo>
                  <a:pt x="3619500" y="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452950" y="3023453"/>
            <a:ext cx="6878250" cy="2374047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452950" y="304800"/>
            <a:ext cx="8643550" cy="2277882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4900" b="1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96_#color-2179&amp;926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8" name="Rectangle 41707 (Stroke)_#color-2217&amp;9583"/>
          <p:cNvSpPr/>
          <p:nvPr userDrawn="1">
            <p:custDataLst>
              <p:tags r:id="rId3"/>
            </p:custDataLst>
          </p:nvPr>
        </p:nvSpPr>
        <p:spPr>
          <a:xfrm>
            <a:off x="2514600" y="0"/>
            <a:ext cx="9677400" cy="5791200"/>
          </a:xfrm>
          <a:custGeom>
            <a:avLst/>
            <a:gdLst/>
            <a:ahLst/>
            <a:cxnLst/>
            <a:rect l="l" t="t" r="r" b="b"/>
            <a:pathLst>
              <a:path w="9677400" h="5791200">
                <a:moveTo>
                  <a:pt x="25400" y="0"/>
                </a:moveTo>
                <a:lnTo>
                  <a:pt x="0" y="0"/>
                </a:lnTo>
                <a:lnTo>
                  <a:pt x="0" y="5791200"/>
                </a:lnTo>
                <a:lnTo>
                  <a:pt x="9677400" y="5791200"/>
                </a:lnTo>
                <a:lnTo>
                  <a:pt x="9677400" y="5765800"/>
                </a:lnTo>
                <a:lnTo>
                  <a:pt x="25400" y="5765800"/>
                </a:lnTo>
                <a:lnTo>
                  <a:pt x="25400" y="0"/>
                </a:lnTo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</p:spPr>
      </p:sp>
      <p:sp>
        <p:nvSpPr>
          <p:cNvPr id="9" name="Rectangle 41706 (Stroke)_#color-2217&amp;9586"/>
          <p:cNvSpPr/>
          <p:nvPr userDrawn="1">
            <p:custDataLst>
              <p:tags r:id="rId4"/>
            </p:custDataLst>
          </p:nvPr>
        </p:nvSpPr>
        <p:spPr>
          <a:xfrm>
            <a:off x="0" y="4521200"/>
            <a:ext cx="4368800" cy="2336800"/>
          </a:xfrm>
          <a:custGeom>
            <a:avLst/>
            <a:gdLst/>
            <a:ahLst/>
            <a:cxnLst/>
            <a:rect l="l" t="t" r="r" b="b"/>
            <a:pathLst>
              <a:path w="4368800" h="2336800">
                <a:moveTo>
                  <a:pt x="4368800" y="2336800"/>
                </a:moveTo>
                <a:lnTo>
                  <a:pt x="4368800" y="0"/>
                </a:lnTo>
                <a:lnTo>
                  <a:pt x="0" y="0"/>
                </a:lnTo>
                <a:lnTo>
                  <a:pt x="0" y="25400"/>
                </a:lnTo>
                <a:lnTo>
                  <a:pt x="4343400" y="25400"/>
                </a:lnTo>
                <a:lnTo>
                  <a:pt x="4343400" y="2336800"/>
                </a:lnTo>
                <a:lnTo>
                  <a:pt x="4368800" y="233680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4635500" y="406400"/>
            <a:ext cx="7302500" cy="276815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0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4635500" y="3576600"/>
            <a:ext cx="7302500" cy="2062200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ags" Target="../tags/tag65.xml"/><Relationship Id="rId13" Type="http://schemas.openxmlformats.org/officeDocument/2006/relationships/tags" Target="../tags/tag66.xml"/><Relationship Id="rId14" Type="http://schemas.openxmlformats.org/officeDocument/2006/relationships/tags" Target="../tags/tag67.xml"/><Relationship Id="rId15" Type="http://schemas.openxmlformats.org/officeDocument/2006/relationships/tags" Target="../tags/tag68.xml"/><Relationship Id="rId16" Type="http://schemas.openxmlformats.org/officeDocument/2006/relationships/tags" Target="../tags/tag69.xml"/><Relationship Id="rId17" Type="http://schemas.openxmlformats.org/officeDocument/2006/relationships/tags" Target="../tags/tag70.xml"/><Relationship Id="rId18" Type="http://schemas.openxmlformats.org/officeDocument/2006/relationships/tags" Target="../tags/tag71.xml"/><Relationship Id="rId19" Type="http://schemas.openxmlformats.org/officeDocument/2006/relationships/tags" Target="../tags/tag72.xml"/><Relationship Id="rId20" Type="http://schemas.openxmlformats.org/officeDocument/2006/relationships/tags" Target="../tags/tag73.xml"/><Relationship Id="rId21" Type="http://schemas.openxmlformats.org/officeDocument/2006/relationships/tags" Target="../tags/tag74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1710 (Stroke)_#color-2217&amp;9571"/>
          <p:cNvSpPr/>
          <p:nvPr userDrawn="1">
            <p:custDataLst>
              <p:tags r:id="rId12"/>
            </p:custDataLst>
          </p:nvPr>
        </p:nvSpPr>
        <p:spPr>
          <a:xfrm>
            <a:off x="0" y="6337300"/>
            <a:ext cx="609600" cy="368300"/>
          </a:xfrm>
          <a:custGeom>
            <a:avLst/>
            <a:gdLst/>
            <a:ahLst/>
            <a:cxnLst/>
            <a:rect l="l" t="t" r="r" b="b"/>
            <a:pathLst>
              <a:path w="609600" h="368300">
                <a:moveTo>
                  <a:pt x="0" y="368300"/>
                </a:moveTo>
                <a:lnTo>
                  <a:pt x="609600" y="368300"/>
                </a:lnTo>
                <a:lnTo>
                  <a:pt x="609600" y="0"/>
                </a:lnTo>
                <a:lnTo>
                  <a:pt x="0" y="0"/>
                </a:lnTo>
                <a:lnTo>
                  <a:pt x="0" y="25400"/>
                </a:lnTo>
                <a:lnTo>
                  <a:pt x="584200" y="25400"/>
                </a:lnTo>
                <a:lnTo>
                  <a:pt x="584200" y="342900"/>
                </a:lnTo>
                <a:lnTo>
                  <a:pt x="0" y="342900"/>
                </a:lnTo>
                <a:lnTo>
                  <a:pt x="0" y="368300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11" name="Rectangle 41708 (Stroke)_#color-2217&amp;9574"/>
          <p:cNvSpPr/>
          <p:nvPr userDrawn="1">
            <p:custDataLst>
              <p:tags r:id="rId13"/>
            </p:custDataLst>
          </p:nvPr>
        </p:nvSpPr>
        <p:spPr>
          <a:xfrm>
            <a:off x="215900" y="6489700"/>
            <a:ext cx="1422400" cy="368300"/>
          </a:xfrm>
          <a:custGeom>
            <a:avLst/>
            <a:gdLst/>
            <a:ahLst/>
            <a:cxnLst/>
            <a:rect l="l" t="t" r="r" b="b"/>
            <a:pathLst>
              <a:path w="1422400" h="368300">
                <a:moveTo>
                  <a:pt x="1422400" y="368300"/>
                </a:moveTo>
                <a:lnTo>
                  <a:pt x="1422400" y="0"/>
                </a:lnTo>
                <a:lnTo>
                  <a:pt x="0" y="0"/>
                </a:lnTo>
                <a:lnTo>
                  <a:pt x="0" y="368300"/>
                </a:lnTo>
                <a:lnTo>
                  <a:pt x="25400" y="368300"/>
                </a:lnTo>
                <a:lnTo>
                  <a:pt x="25400" y="25400"/>
                </a:lnTo>
                <a:lnTo>
                  <a:pt x="1397000" y="25400"/>
                </a:lnTo>
                <a:lnTo>
                  <a:pt x="1397000" y="368300"/>
                </a:lnTo>
                <a:lnTo>
                  <a:pt x="1422400" y="368300"/>
                </a:lnTo>
              </a:path>
            </a:pathLst>
          </a:custGeom>
          <a:solidFill>
            <a:schemeClr val="accent2">
              <a:alpha val="50000"/>
            </a:schemeClr>
          </a:solidFill>
        </p:spPr>
      </p:sp>
      <p:sp>
        <p:nvSpPr>
          <p:cNvPr id="12" name="Rectangle 41706 (Stroke)_#color-2217&amp;9577"/>
          <p:cNvSpPr/>
          <p:nvPr userDrawn="1">
            <p:custDataLst>
              <p:tags r:id="rId14"/>
            </p:custDataLst>
          </p:nvPr>
        </p:nvSpPr>
        <p:spPr>
          <a:xfrm>
            <a:off x="10337800" y="0"/>
            <a:ext cx="1663700" cy="381000"/>
          </a:xfrm>
          <a:custGeom>
            <a:avLst/>
            <a:gdLst/>
            <a:ahLst/>
            <a:cxnLst/>
            <a:rect l="l" t="t" r="r" b="b"/>
            <a:pathLst>
              <a:path w="1663700" h="381000">
                <a:moveTo>
                  <a:pt x="25400" y="0"/>
                </a:moveTo>
                <a:lnTo>
                  <a:pt x="25400" y="355600"/>
                </a:lnTo>
                <a:lnTo>
                  <a:pt x="1638300" y="355600"/>
                </a:lnTo>
                <a:lnTo>
                  <a:pt x="1638300" y="0"/>
                </a:lnTo>
                <a:lnTo>
                  <a:pt x="1663700" y="0"/>
                </a:lnTo>
                <a:lnTo>
                  <a:pt x="1663700" y="381000"/>
                </a:lnTo>
                <a:lnTo>
                  <a:pt x="0" y="381000"/>
                </a:lnTo>
                <a:lnTo>
                  <a:pt x="0" y="0"/>
                </a:lnTo>
                <a:lnTo>
                  <a:pt x="25400" y="0"/>
                </a:lnTo>
              </a:path>
            </a:pathLst>
          </a:custGeom>
          <a:solidFill>
            <a:schemeClr val="accent2">
              <a:alpha val="50000"/>
            </a:schemeClr>
          </a:solidFill>
        </p:spPr>
      </p:sp>
      <p:sp>
        <p:nvSpPr>
          <p:cNvPr id="13" name="Rectangle 41710 (Stroke)_#color-2217&amp;9571"/>
          <p:cNvSpPr/>
          <p:nvPr userDrawn="1">
            <p:custDataLst>
              <p:tags r:id="rId15"/>
            </p:custDataLst>
          </p:nvPr>
        </p:nvSpPr>
        <p:spPr>
          <a:xfrm flipH="1">
            <a:off x="11582400" y="203200"/>
            <a:ext cx="609600" cy="368300"/>
          </a:xfrm>
          <a:custGeom>
            <a:avLst/>
            <a:gdLst/>
            <a:ahLst/>
            <a:cxnLst/>
            <a:rect l="l" t="t" r="r" b="b"/>
            <a:pathLst>
              <a:path w="609600" h="368300">
                <a:moveTo>
                  <a:pt x="0" y="368300"/>
                </a:moveTo>
                <a:lnTo>
                  <a:pt x="609600" y="368300"/>
                </a:lnTo>
                <a:lnTo>
                  <a:pt x="609600" y="0"/>
                </a:lnTo>
                <a:lnTo>
                  <a:pt x="0" y="0"/>
                </a:lnTo>
                <a:lnTo>
                  <a:pt x="0" y="25400"/>
                </a:lnTo>
                <a:lnTo>
                  <a:pt x="584200" y="25400"/>
                </a:lnTo>
                <a:lnTo>
                  <a:pt x="584200" y="342900"/>
                </a:lnTo>
                <a:lnTo>
                  <a:pt x="0" y="342900"/>
                </a:lnTo>
                <a:lnTo>
                  <a:pt x="0" y="368300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74519"/>
            <a:ext cx="10802112" cy="2103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0" b="1">
                <a:solidFill>
                  <a:srgbClr val="1A202C"/>
                </a:solidFill>
                <a:latin typeface="微软雅黑"/>
                <a:ea typeface="微软雅黑"/>
                <a:cs typeface="微软雅黑"/>
              </a:rPr>
              <a:t>零因子与分类讨论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4297680"/>
            <a:ext cx="10802112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400" b="0">
                <a:solidFill>
                  <a:srgbClr val="718096"/>
                </a:solidFill>
                <a:latin typeface="华文中宋"/>
                <a:ea typeface="华文中宋"/>
                <a:cs typeface="华文中宋"/>
              </a:rPr>
              <a:t>三角方程：零因子与分类讨论</a:t>
            </a:r>
          </a:p>
          <a:p>
            <a:pPr algn="ctr"/>
            <a:r>
              <a:rPr sz="2400" b="0">
                <a:solidFill>
                  <a:srgbClr val="718096"/>
                </a:solidFill>
                <a:latin typeface="华文中宋"/>
                <a:ea typeface="华文中宋"/>
                <a:cs typeface="华文中宋"/>
              </a:rPr>
              <a:t>高中一年级 · 针对性教学</a:t>
            </a:r>
          </a:p>
          <a:p>
            <a:pPr algn="ctr"/>
            <a:r>
              <a:rPr sz="2400" b="0">
                <a:solidFill>
                  <a:srgbClr val="718096"/>
                </a:solidFill>
                <a:latin typeface="华文中宋"/>
                <a:ea typeface="华文中宋"/>
                <a:cs typeface="华文中宋"/>
              </a:rPr>
              <a:t>教材：人教A版高中数学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1A202C"/>
                </a:solidFill>
                <a:latin typeface="微软雅黑"/>
                <a:ea typeface="微软雅黑"/>
                <a:cs typeface="微软雅黑"/>
              </a:rPr>
              <a:t>公式回顾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1572768"/>
            <a:ext cx="9704832" cy="42611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4160"/>
              </a:lnSpc>
              <a:spcAft>
                <a:spcPts val="1600"/>
              </a:spcAft>
            </a:pPr>
            <a:r>
              <a:rPr sz="3200" b="1">
                <a:solidFill>
                  <a:srgbClr val="2B6CB0"/>
                </a:solidFill>
                <a:latin typeface="华文中宋"/>
                <a:ea typeface="华文中宋"/>
                <a:cs typeface="华文中宋"/>
              </a:rPr>
              <a:t>二倍角公式</a:t>
            </a:r>
            <a:r>
              <a:rPr sz="32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：sin(2x)=2sin x cos x。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2B6CB0"/>
                </a:solidFill>
                <a:latin typeface="华文中宋"/>
                <a:ea typeface="华文中宋"/>
                <a:cs typeface="华文中宋"/>
              </a:rPr>
              <a:t>将二倍角公式代入原方程后，如何继续变形？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1A202C"/>
                </a:solidFill>
                <a:latin typeface="微软雅黑"/>
                <a:ea typeface="微软雅黑"/>
                <a:cs typeface="微软雅黑"/>
              </a:rPr>
              <a:t>审查除法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176133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在 0≤x&lt;2π 内，解方程 sin(2x)=sin x。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原第2步：“两边同除以 sin x，得到 cos x=1/2。”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2B6CB0"/>
                </a:solidFill>
                <a:latin typeface="华文中宋"/>
                <a:ea typeface="华文中宋"/>
                <a:cs typeface="华文中宋"/>
              </a:rPr>
              <a:t>第2步的除法在什么条件下成立？原题是否保证了这个条件？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1A202C"/>
                </a:solidFill>
                <a:latin typeface="微软雅黑"/>
                <a:ea typeface="微软雅黑"/>
                <a:cs typeface="微软雅黑"/>
              </a:rPr>
              <a:t>自行修订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25062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保留原提交痕迹。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在第2步旁标出需要补查的位置。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补写除法成立的条件。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尝试修订原题解答。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1A202C"/>
                </a:solidFill>
                <a:latin typeface="微软雅黑"/>
                <a:ea typeface="微软雅黑"/>
                <a:cs typeface="微软雅黑"/>
              </a:rPr>
              <a:t>解释依据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12805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对照书面修订说明理由。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补齐区间筛选与原式验证。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2B6CB0"/>
                </a:solidFill>
                <a:latin typeface="华文中宋"/>
                <a:ea typeface="华文中宋"/>
                <a:cs typeface="华文中宋"/>
              </a:rPr>
              <a:t>修订怎样保证没有遗漏？各分支中的变形为什么成立？区间条件在哪里使用？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1A202C"/>
                </a:solidFill>
                <a:latin typeface="微软雅黑"/>
                <a:ea typeface="微软雅黑"/>
                <a:cs typeface="微软雅黑"/>
              </a:rPr>
              <a:t>共同核查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515688"/>
            <a:ext cx="5172456" cy="14643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1071"/>
              </a:spcAft>
            </a:pPr>
            <a:r>
              <a:rPr sz="30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变形：两边同除以 sin x。</a:t>
            </a:r>
          </a:p>
        </p:txBody>
      </p:sp>
      <p:sp>
        <p:nvSpPr>
          <p:cNvPr id="4" name="body-block"/>
          <p:cNvSpPr txBox="1"/>
          <p:nvPr/>
        </p:nvSpPr>
        <p:spPr>
          <a:xfrm>
            <a:off x="6324600" y="2515688"/>
            <a:ext cx="5172456" cy="2239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1071"/>
              </a:spcAft>
            </a:pPr>
            <a:r>
              <a:rPr sz="30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成立条件：________</a:t>
            </a:r>
          </a:p>
          <a:p>
            <a:pPr>
              <a:lnSpc>
                <a:spcPts val="4800"/>
              </a:lnSpc>
              <a:spcAft>
                <a:spcPts val="1071"/>
              </a:spcAft>
            </a:pPr>
            <a:r>
              <a:rPr sz="30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未覆盖情形：________</a:t>
            </a:r>
          </a:p>
        </p:txBody>
      </p:sp>
      <p:sp>
        <p:nvSpPr>
          <p:cNvPr id="5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2B6CB0"/>
                </a:solidFill>
                <a:latin typeface="华文中宋"/>
                <a:ea typeface="华文中宋"/>
                <a:cs typeface="华文中宋"/>
              </a:rPr>
              <a:t>除法未覆盖的情形应如何处理？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1A202C"/>
                </a:solidFill>
                <a:latin typeface="微软雅黑"/>
                <a:ea typeface="微软雅黑"/>
                <a:cs typeface="微软雅黑"/>
              </a:rPr>
              <a:t>保留分支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475846"/>
            <a:ext cx="10802112" cy="8303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1071"/>
              </a:spcAft>
            </a:pPr>
            <a:r>
              <a:rPr sz="30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因式分解：sin x(2cos x−1)=0。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4262845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2B6CB0"/>
                </a:solidFill>
                <a:latin typeface="华文中宋"/>
                <a:ea typeface="华文中宋"/>
                <a:cs typeface="华文中宋"/>
              </a:rPr>
              <a:t>两个因子乘积为零，需要保留哪些分支？</a:t>
            </a:r>
          </a:p>
        </p:txBody>
      </p:sp>
      <p:sp>
        <p:nvSpPr>
          <p:cNvPr id="5" name="answer-block"/>
          <p:cNvSpPr txBox="1"/>
          <p:nvPr/>
        </p:nvSpPr>
        <p:spPr>
          <a:xfrm>
            <a:off x="694944" y="4857205"/>
            <a:ext cx="10802112" cy="15175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120"/>
              </a:lnSpc>
              <a:spcAft>
                <a:spcPts val="857"/>
              </a:spcAft>
            </a:pPr>
            <a:r>
              <a:rPr sz="24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sin x=0，或 2cos x−1=0。</a:t>
            </a:r>
          </a:p>
          <a:p>
            <a:pPr>
              <a:lnSpc>
                <a:spcPts val="3120"/>
              </a:lnSpc>
              <a:spcAft>
                <a:spcPts val="857"/>
              </a:spcAft>
            </a:pPr>
            <a:r>
              <a:rPr sz="24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若先除以 sin x，须限定 sin x≠0，并另行处理 sin x=0。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1A202C"/>
                </a:solidFill>
                <a:latin typeface="微软雅黑"/>
                <a:ea typeface="微软雅黑"/>
                <a:cs typeface="微软雅黑"/>
              </a:rPr>
              <a:t>区间筛选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605931"/>
            <a:ext cx="5172456" cy="8303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1071"/>
              </a:spcAft>
            </a:pPr>
            <a:r>
              <a:rPr sz="30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sin x=0。</a:t>
            </a:r>
          </a:p>
        </p:txBody>
      </p:sp>
      <p:sp>
        <p:nvSpPr>
          <p:cNvPr id="4" name="body-block"/>
          <p:cNvSpPr txBox="1"/>
          <p:nvPr/>
        </p:nvSpPr>
        <p:spPr>
          <a:xfrm>
            <a:off x="6324600" y="2605931"/>
            <a:ext cx="5172456" cy="8303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1071"/>
              </a:spcAft>
            </a:pPr>
            <a:r>
              <a:rPr sz="30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cos x=1/2。</a:t>
            </a:r>
          </a:p>
        </p:txBody>
      </p:sp>
      <p:sp>
        <p:nvSpPr>
          <p:cNvPr id="5" name="question-block"/>
          <p:cNvSpPr txBox="1"/>
          <p:nvPr/>
        </p:nvSpPr>
        <p:spPr>
          <a:xfrm>
            <a:off x="694944" y="4659085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2B6CB0"/>
                </a:solidFill>
                <a:latin typeface="华文中宋"/>
                <a:ea typeface="华文中宋"/>
                <a:cs typeface="华文中宋"/>
              </a:rPr>
              <a:t>两个分支在指定区间内分别有哪些解？</a:t>
            </a:r>
          </a:p>
        </p:txBody>
      </p:sp>
      <p:sp>
        <p:nvSpPr>
          <p:cNvPr id="6" name="answer-block"/>
          <p:cNvSpPr txBox="1"/>
          <p:nvPr/>
        </p:nvSpPr>
        <p:spPr>
          <a:xfrm>
            <a:off x="694944" y="5253445"/>
            <a:ext cx="10802112" cy="11054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120"/>
              </a:lnSpc>
              <a:spcAft>
                <a:spcPts val="857"/>
              </a:spcAft>
            </a:pPr>
            <a:r>
              <a:rPr sz="24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sin x=0：x=0 或 x=π。</a:t>
            </a:r>
          </a:p>
          <a:p>
            <a:pPr>
              <a:lnSpc>
                <a:spcPts val="3120"/>
              </a:lnSpc>
              <a:spcAft>
                <a:spcPts val="857"/>
              </a:spcAft>
            </a:pPr>
            <a:r>
              <a:rPr sz="24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cos x=1/2：x=π/3 或 x=5π/3。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1A202C"/>
                </a:solidFill>
                <a:latin typeface="微软雅黑"/>
                <a:ea typeface="微软雅黑"/>
                <a:cs typeface="微软雅黑"/>
              </a:rPr>
              <a:t>原式验证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189341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候选解：0、π/3、π、5π/3。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分别计算 sin(2x) 与 sin x。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验证记录：x｜sin(2x)｜sin x｜是否相等。</a:t>
            </a:r>
          </a:p>
        </p:txBody>
      </p:sp>
      <p:sp>
        <p:nvSpPr>
          <p:cNvPr id="4" name="answer-block"/>
          <p:cNvSpPr txBox="1"/>
          <p:nvPr/>
        </p:nvSpPr>
        <p:spPr>
          <a:xfrm>
            <a:off x="694944" y="3213607"/>
            <a:ext cx="10802112" cy="6752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840"/>
              </a:lnSpc>
              <a:spcAft>
                <a:spcPts val="857"/>
              </a:spcAft>
            </a:pPr>
            <a:r>
              <a:rPr sz="24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解集为 {0,π/3,π,5π/3}。</a:t>
            </a:r>
          </a:p>
        </p:txBody>
      </p:sp>
      <p:sp>
        <p:nvSpPr>
          <p:cNvPr id="5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2B6CB0"/>
                </a:solidFill>
                <a:latin typeface="华文中宋"/>
                <a:ea typeface="华文中宋"/>
                <a:cs typeface="华文中宋"/>
              </a:rPr>
              <a:t>每个候选解是否满足原方程？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1A202C"/>
                </a:solidFill>
                <a:latin typeface="微软雅黑"/>
                <a:ea typeface="微软雅黑"/>
                <a:cs typeface="微软雅黑"/>
              </a:rPr>
              <a:t>独自整理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076703"/>
            <a:ext cx="10802112" cy="37319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写明除法成立的条件。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保留零因子与非零分支。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说明各步等价变形的依据。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列出区间内的全部解。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记录原式验证过程。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2D3748"/>
                </a:solidFill>
                <a:latin typeface="华文中宋"/>
                <a:ea typeface="华文中宋"/>
                <a:cs typeface="华文中宋"/>
              </a:rPr>
              <a:t>提交完整书面修订。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TEXT_LAYER_COUNT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TEXT_LAYER_COUNT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TEXT_LAYER_COUNT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TEXT_LAYER_COUNT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  <p:tag name="KSO_WM_UNIT_TEXT_LAYER_COUNT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UNIT_TYPE" val="i"/>
  <p:tag name="KSO_WM_UNIT_INDEX" val="4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31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331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311"/>
  <p:tag name="KSO_WM_TEMPLATE_THUMBS_INDEX" val="1、9"/>
</p:tagLst>
</file>

<file path=ppt/tags/tag101.xml><?xml version="1.0" encoding="utf-8"?>
<p:tagLst xmlns:p="http://schemas.openxmlformats.org/presentationml/2006/main">
  <p:tag name="commondata" val="eyJoZGlkIjoiMThjMGUwNmZjMTU5NjA3NzRmMjdhODVlMDFjYzYxMDEifQ=="/>
  <p:tag name="resource_record_key" val="{&quot;19&quot;:[20344759],&quot;65&quot;:[2023331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0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F40B8"/>
      </a:accent1>
      <a:accent2>
        <a:srgbClr val="EB6A28"/>
      </a:accent2>
      <a:accent3>
        <a:srgbClr val="2876EB"/>
      </a:accent3>
      <a:accent4>
        <a:srgbClr val="2FAED6"/>
      </a:accent4>
      <a:accent5>
        <a:srgbClr val="2899EB"/>
      </a:accent5>
      <a:accent6>
        <a:srgbClr val="9163DE"/>
      </a:accent6>
      <a:hlink>
        <a:srgbClr val="658BD5"/>
      </a:hlink>
      <a:folHlink>
        <a:srgbClr val="A16AA5"/>
      </a:folHlink>
    </a:clrScheme>
    <a:fontScheme name="自定义 46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1158</Words>
  <Application>WPS 演示</Application>
  <PresentationFormat>宽屏</PresentationFormat>
  <Paragraphs>126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Cambria Math</vt:lpstr>
      <vt:lpstr>MS Mincho</vt:lpstr>
      <vt:lpstr>Yu Gothic UI</vt:lpstr>
      <vt:lpstr>华文中宋</vt:lpstr>
      <vt:lpstr>微软雅黑</vt:lpstr>
      <vt:lpstr>Arial Unicode MS</vt:lpstr>
      <vt:lpstr>MiSans Demibold</vt:lpstr>
      <vt:lpstr>Segoe Print</vt:lpstr>
      <vt:lpstr>Calibri</vt:lpstr>
      <vt:lpstr>WPS</vt:lpstr>
      <vt:lpstr>1_Office 主题​​</vt:lpstr>
      <vt:lpstr>Equation.KSEE3</vt:lpstr>
      <vt:lpstr>Equation.KSEE3</vt:lpstr>
      <vt:lpstr>导数的概念及其意义</vt:lpstr>
      <vt:lpstr>温故知新</vt:lpstr>
      <vt:lpstr>两种速度</vt:lpstr>
      <vt:lpstr>以抛物线                  为例</vt:lpstr>
      <vt:lpstr>定量看</vt:lpstr>
      <vt:lpstr>引入无穷小量与极限</vt:lpstr>
      <vt:lpstr>导数的概念</vt:lpstr>
      <vt:lpstr>导数的意义</vt:lpstr>
      <vt:lpstr>实践探究</vt:lpstr>
      <vt:lpstr>课堂小结</vt:lpstr>
      <vt:lpstr>作业布置</vt:lpstr>
      <vt:lpstr>教学设计阐述</vt:lpstr>
      <vt:lpstr>教学重难点及解决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三角方程：零因子与分类讨论</dc:title>
  <dc:creator>张耀中</dc:creator>
  <cp:lastModifiedBy>张耀中</cp:lastModifiedBy>
  <cp:revision>32</cp:revision>
  <dcterms:created xsi:type="dcterms:W3CDTF">2023-08-09T12:44:00Z</dcterms:created>
  <dcterms:modified xsi:type="dcterms:W3CDTF">2026-03-06T05:21:21Z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0E85073815854EF0A955AC7BE247D992_13</vt:lpwstr>
  </property>
  <property fmtid="{D5CDD505-2E9C-101B-9397-08002B2CF9AE}" pid="3" name="KSOProductBuildVer">
    <vt:lpwstr>2052-12.1.0.25222</vt:lpwstr>
  </property>
</Properties>
</file>