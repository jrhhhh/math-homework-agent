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本课目标：[独立完成的任务]；成功标准：[可观察的数学表现]。</a:t>
            </a:r>
          </a:p>
          <a:p>
            <a:r>
              <a:t>核验状态：[来源、求解与工具核验记录]。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时间：[问题呈现用时]；学生任务：[具体写、画、判断或说明]。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来源：[真实匿名证据或合成错例]，不得混淆。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时间：[审查用时]；学生任务：[具体写、画、判断或说明]。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时间：[检验用时]；学生任务：[具体写、画、判断或说明]。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预期结果：[具体计算及其含义]。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时间：[修订用时]；学生任务：[具体写、画、判断或说明]。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时间：[整理用时]；学生任务：[具体写、画、判断或说明]。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时间：[再练用时]；学生任务：[具体写、画、判断或说明]。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答案与判据：[完整解答及关键依据]。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时间：[迁移用时]；学生任务：[具体写、画、判断或说明]。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答案：[解答与反馈路径]。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时间：[检测用时]；学生任务：[具体写、画、判断或说明]。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判断标准：[可观察的目标表现]；不得把受助修订算作独立掌握。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时间：[方法归纳用时]；学生任务：[具体写、画、判断或说明]。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时间：[作业用时]；学生任务：[具体写、画、判断或说明]。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答案与反馈：[教师用解答及依据实际检测结果的安排]。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cholarRed.Cover">
    <p:bg>
      <p:bgPr>
        <a:solidFill>
          <a:srgbClr val="65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7863840" y="0"/>
            <a:ext cx="4328159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heme.surface"/>
          <p:cNvSpPr/>
          <p:nvPr/>
        </p:nvSpPr>
        <p:spPr>
          <a:xfrm>
            <a:off x="8266175" y="1874519"/>
            <a:ext cx="3291840" cy="3291840"/>
          </a:xfrm>
          <a:prstGeom prst="ellipse">
            <a:avLst/>
          </a:prstGeom>
          <a:noFill/>
          <a:ln w="15240">
            <a:solidFill>
              <a:srgbClr val="F2E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heme.rule"/>
          <p:cNvCxnSpPr/>
          <p:nvPr/>
        </p:nvCxnSpPr>
        <p:spPr>
          <a:xfrm>
            <a:off x="8092440" y="3520440"/>
            <a:ext cx="3657600" cy="0"/>
          </a:xfrm>
          <a:prstGeom prst="line">
            <a:avLst/>
          </a:prstGeom>
          <a:ln w="15240">
            <a:solidFill>
              <a:srgbClr val="F2E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theme.rule"/>
          <p:cNvCxnSpPr/>
          <p:nvPr/>
        </p:nvCxnSpPr>
        <p:spPr>
          <a:xfrm>
            <a:off x="9912096" y="1691640"/>
            <a:ext cx="0" cy="3657600"/>
          </a:xfrm>
          <a:prstGeom prst="line">
            <a:avLst/>
          </a:prstGeom>
          <a:ln w="15240">
            <a:solidFill>
              <a:srgbClr val="F2E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heme.rule"/>
          <p:cNvCxnSpPr/>
          <p:nvPr/>
        </p:nvCxnSpPr>
        <p:spPr>
          <a:xfrm flipV="1">
            <a:off x="9912096" y="2523744"/>
            <a:ext cx="1307592" cy="99669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heme.surface"/>
          <p:cNvSpPr/>
          <p:nvPr/>
        </p:nvSpPr>
        <p:spPr>
          <a:xfrm>
            <a:off x="11164824" y="24688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heme.surface"/>
          <p:cNvSpPr/>
          <p:nvPr/>
        </p:nvSpPr>
        <p:spPr>
          <a:xfrm>
            <a:off x="777240" y="1371600"/>
            <a:ext cx="100584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cholarRed.Explor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olarRed.Compar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54480"/>
            <a:ext cx="5163311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heme.surface"/>
          <p:cNvSpPr/>
          <p:nvPr/>
        </p:nvSpPr>
        <p:spPr>
          <a:xfrm>
            <a:off x="6224015" y="1554480"/>
            <a:ext cx="5163311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heme.surface"/>
          <p:cNvSpPr/>
          <p:nvPr/>
        </p:nvSpPr>
        <p:spPr>
          <a:xfrm>
            <a:off x="804672" y="1554480"/>
            <a:ext cx="5163311" cy="54864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heme.surface"/>
          <p:cNvSpPr/>
          <p:nvPr/>
        </p:nvSpPr>
        <p:spPr>
          <a:xfrm>
            <a:off x="6224015" y="1554480"/>
            <a:ext cx="5163311" cy="54864"/>
          </a:xfrm>
          <a:prstGeom prst="rect">
            <a:avLst/>
          </a:prstGeom>
          <a:solidFill>
            <a:srgbClr val="42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olarRed.Takeaway">
    <p:bg>
      <p:bgPr>
        <a:solidFill>
          <a:srgbClr val="65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749808" y="1371600"/>
            <a:ext cx="54864" cy="452628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1078992" y="5559552"/>
            <a:ext cx="10213848" cy="0"/>
          </a:xfrm>
          <a:prstGeom prst="line">
            <a:avLst/>
          </a:prstGeom>
          <a:ln w="15240">
            <a:solidFill>
              <a:srgbClr val="9F29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cholarRed.Practic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210312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heme.surface"/>
          <p:cNvSpPr/>
          <p:nvPr/>
        </p:nvSpPr>
        <p:spPr>
          <a:xfrm>
            <a:off x="804672" y="3877056"/>
            <a:ext cx="10515600" cy="2203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theme.rule"/>
          <p:cNvCxnSpPr/>
          <p:nvPr/>
        </p:nvCxnSpPr>
        <p:spPr>
          <a:xfrm>
            <a:off x="1078992" y="4416552"/>
            <a:ext cx="9966960" cy="0"/>
          </a:xfrm>
          <a:prstGeom prst="line">
            <a:avLst/>
          </a:prstGeom>
          <a:ln w="635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heme.rule"/>
          <p:cNvCxnSpPr/>
          <p:nvPr/>
        </p:nvCxnSpPr>
        <p:spPr>
          <a:xfrm>
            <a:off x="1078992" y="4956048"/>
            <a:ext cx="9966960" cy="0"/>
          </a:xfrm>
          <a:prstGeom prst="line">
            <a:avLst/>
          </a:prstGeom>
          <a:ln w="635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cholarRed.Visual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cholarRed.Sequenc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cholarRed.Notes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0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高中数学 · 课堂研习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74519"/>
            <a:ext cx="662940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6750"/>
              </a:lnSpc>
              <a:spcAft>
                <a:spcPts val="900"/>
              </a:spcAft>
            </a:pPr>
            <a:r>
              <a:rPr sz="50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[课题]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572000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970"/>
              </a:lnSpc>
              <a:spcAft>
                <a:spcPts val="900"/>
              </a:spcAft>
            </a:pPr>
            <a:r>
              <a:rPr sz="2200" b="0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[年级] · [教材版本] · [课时]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探究与推理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先看一个具体问题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984372"/>
            <a:ext cx="41148" cy="122301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984372"/>
            <a:ext cx="9692640" cy="1223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[固定原题、条件、范围]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[本次需要检查的具体步骤]</a:t>
            </a:r>
          </a:p>
        </p:txBody>
      </p:sp>
      <p:sp>
        <p:nvSpPr>
          <p:cNvPr id="6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[这一步是否有依据]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对照与辨析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对照条件与变形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810512"/>
            <a:ext cx="4614671" cy="6057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[题目已给的条件]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8335" y="1810512"/>
            <a:ext cx="4614671" cy="6057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[变形实际需要的条件]</a:t>
            </a:r>
          </a:p>
        </p:txBody>
      </p:sp>
      <p:sp>
        <p:nvSpPr>
          <p:cNvPr id="6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[条件是否足够]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问题与练习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用反例检验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55648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[能暴露该问题的边界或特殊值]</a:t>
            </a:r>
          </a:p>
        </p:txBody>
      </p:sp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[同时代入原式和变形式，有什么发现]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探究与推理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最小修改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991802"/>
            <a:ext cx="41148" cy="1834515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991802"/>
            <a:ext cx="9692640" cy="18345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[原步骤与需要补充的条件]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[最小修订]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[后续步骤需要怎样调整]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探究与推理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形成完整解答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899791"/>
            <a:ext cx="41148" cy="122301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899791"/>
            <a:ext cx="9692640" cy="1223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[修订后的完整关键推理]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[分支及区间检查]</a:t>
            </a:r>
          </a:p>
        </p:txBody>
      </p:sp>
      <p:sp>
        <p:nvSpPr>
          <p:cNvPr id="6" name="theme.surface"/>
          <p:cNvSpPr/>
          <p:nvPr/>
        </p:nvSpPr>
        <p:spPr>
          <a:xfrm>
            <a:off x="1078992" y="5486400"/>
            <a:ext cx="9966960" cy="36576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9612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[完整答案及依据]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问题与练习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同类再练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55648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[同目标新题，题目完整]</a:t>
            </a:r>
          </a:p>
        </p:txBody>
      </p:sp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[独立完成并写出依据]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问题与练习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换一种表征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55648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[用图、文字或反向问题表述同一目标]</a:t>
            </a:r>
          </a:p>
        </p:txBody>
      </p:sp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[如何识别仍需注意的条件]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问题与练习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退出检测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55648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[与原题不同的独立检测题]</a:t>
            </a:r>
          </a:p>
        </p:txBody>
      </p:sp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[不给提示，独立完成]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下次怎样自查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57525"/>
            <a:ext cx="9692640" cy="1885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[具体高风险步骤]</a:t>
            </a:r>
          </a:p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[一条可执行的条件检查]</a:t>
            </a:r>
          </a:p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[如何检查分支或结果]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探究与推理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后续巩固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3297554"/>
            <a:ext cx="41148" cy="122301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297554"/>
            <a:ext cx="9692640" cy="1223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[明确作业或再练任务]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[须保留的检查证据]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绛红书院">
  <a:themeElements>
    <a:clrScheme name="Office">
      <a:dk1>
        <a:srgbClr val="29252A"/>
      </a:dk1>
      <a:lt1>
        <a:srgbClr val="FFFFFF"/>
      </a:lt1>
      <a:dk2>
        <a:srgbClr val="651C31"/>
      </a:dk2>
      <a:lt2>
        <a:srgbClr val="F8F5F0"/>
      </a:lt2>
      <a:accent1>
        <a:srgbClr val="9F2943"/>
      </a:accent1>
      <a:accent2>
        <a:srgbClr val="42675F"/>
      </a:accent2>
      <a:accent3>
        <a:srgbClr val="807378"/>
      </a:accent3>
      <a:accent4>
        <a:srgbClr val="F2E5E6"/>
      </a:accent4>
      <a:accent5>
        <a:srgbClr val="DFD5D0"/>
      </a:accent5>
      <a:accent6>
        <a:srgbClr val="651C31"/>
      </a:accent6>
      <a:hlink>
        <a:srgbClr val="9F2943"/>
      </a:hlink>
      <a:folHlink>
        <a:srgbClr val="42675F"/>
      </a:folHlink>
    </a:clrScheme>
    <a:fontScheme name="Office">
      <a:majorFont>
        <a:latin typeface="华文中宋"/>
        <a:ea typeface="华文中宋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[课题] · 讲评课</dc:title>
  <dc:subject/>
  <dc:creator/>
  <cp:keywords>math-lesson-theme:scholar-red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