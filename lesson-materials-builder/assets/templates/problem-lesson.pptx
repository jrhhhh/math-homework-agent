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18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9"/>
    <p:sldId id="265" r:id="rId7"/>
    <p:sldId id="266" r:id="rId6"/>
    <p:sldId id="267" r:id="rId5"/>
    <p:sldId id="268" r:id="rId4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tags" Target="tags/tag10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本课目标：[独立完成的任务]；成功标准：[可观察的数学表现]。</a:t>
            </a:r>
          </a:p>
          <a:p>
            <a:r>
              <a:t>核验状态：[来源、求解与工具核验记录]。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时间：[检测用时]；学生任务：[具体写、画、判断或说明]。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答案：[完整答案]；据此选择反馈：[两种预期路径]。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时间：[审题用时]；学生任务：[具体写、画、判断或说明]。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时间：[策略比较用时]；学生任务：[具体写、画、判断或说明]。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时间：[关键推导用时]；学生任务：[具体写、画、判断或说明]。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时间：[解答收束用时]；学生任务：[具体写、画、判断或说明]。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时间：[辨错用时]；学生任务：[具体写、画、判断或说明]。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正确修订：[最小修改及理由]。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时间：[基础练习用时]；学生任务：[具体写、画、判断或说明]。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答案与反馈：[完整解答及错误对应处理]。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时间：[变式用时]；学生任务：[具体写、画、判断或说明]。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答案：[完整答案和适用条件]。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时间：[迁移用时]；学生任务：[具体写、画、判断或说明]。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答案与评分：[关键步骤、答案、独立性]。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时间：[检测用时]；学生任务：[具体写、画、判断或说明]。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判据：[策略、条件、推理、结果]；后续：[依据实际结果安排]。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时间：[归纳用时]；学生任务：[具体写、画、判断或说明]。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时间：[作业用时]；学生任务：[具体写、画、判断或说明]。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教师用答案：[解答与检查点]。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tags" Target="../tags/tag23.xml"/><Relationship Id="rId7" Type="http://schemas.openxmlformats.org/officeDocument/2006/relationships/tags" Target="../tags/tag24.xml"/><Relationship Id="rId8" Type="http://schemas.openxmlformats.org/officeDocument/2006/relationships/tags" Target="../tags/tag25.xml"/><Relationship Id="rId9" Type="http://schemas.openxmlformats.org/officeDocument/2006/relationships/tags" Target="../tags/tag26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tags" Target="../tags/tag30.xml"/><Relationship Id="rId6" Type="http://schemas.openxmlformats.org/officeDocument/2006/relationships/tags" Target="../tags/tag31.xml"/><Relationship Id="rId7" Type="http://schemas.openxmlformats.org/officeDocument/2006/relationships/tags" Target="../tags/tag3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tags" Target="../tags/tag39.xml"/><Relationship Id="rId9" Type="http://schemas.openxmlformats.org/officeDocument/2006/relationships/tags" Target="../tags/tag40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707 (Stroke)_#color-2217&amp;955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0909300" cy="5791200"/>
          </a:xfrm>
          <a:custGeom>
            <a:avLst/>
            <a:gdLst/>
            <a:ahLst/>
            <a:cxnLst/>
            <a:rect l="l" t="t" r="r" b="b"/>
            <a:pathLst>
              <a:path w="10909300" h="5791200">
                <a:moveTo>
                  <a:pt x="0" y="5765800"/>
                </a:moveTo>
                <a:lnTo>
                  <a:pt x="10883900" y="5765800"/>
                </a:lnTo>
                <a:lnTo>
                  <a:pt x="10883900" y="0"/>
                </a:lnTo>
                <a:lnTo>
                  <a:pt x="10909300" y="0"/>
                </a:lnTo>
                <a:lnTo>
                  <a:pt x="10909300" y="5791200"/>
                </a:lnTo>
                <a:lnTo>
                  <a:pt x="0" y="5791200"/>
                </a:lnTo>
                <a:lnTo>
                  <a:pt x="0" y="5765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8" name="Rectangle 41706 (Stroke)_#color-2217&amp;9553"/>
          <p:cNvSpPr/>
          <p:nvPr userDrawn="1">
            <p:custDataLst>
              <p:tags r:id="rId3"/>
            </p:custDataLst>
          </p:nvPr>
        </p:nvSpPr>
        <p:spPr>
          <a:xfrm>
            <a:off x="8953500" y="4521200"/>
            <a:ext cx="3238500" cy="2336800"/>
          </a:xfrm>
          <a:custGeom>
            <a:avLst/>
            <a:gdLst/>
            <a:ahLst/>
            <a:cxnLst/>
            <a:rect l="l" t="t" r="r" b="b"/>
            <a:pathLst>
              <a:path w="3238500" h="2336800">
                <a:moveTo>
                  <a:pt x="3238500" y="0"/>
                </a:moveTo>
                <a:lnTo>
                  <a:pt x="0" y="0"/>
                </a:lnTo>
                <a:lnTo>
                  <a:pt x="0" y="2336800"/>
                </a:lnTo>
                <a:lnTo>
                  <a:pt x="25400" y="2336800"/>
                </a:lnTo>
                <a:lnTo>
                  <a:pt x="25400" y="25400"/>
                </a:lnTo>
                <a:lnTo>
                  <a:pt x="3238500" y="25400"/>
                </a:lnTo>
                <a:lnTo>
                  <a:pt x="32385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734331" y="369277"/>
            <a:ext cx="8860399" cy="320797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734331" y="3943799"/>
            <a:ext cx="7101937" cy="1468599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5587" y="857250"/>
            <a:ext cx="10561637" cy="1503413"/>
          </a:xfrm>
        </p:spPr>
        <p:txBody>
          <a:bodyPr wrap="square" anchor="b">
            <a:normAutofit/>
          </a:bodyPr>
          <a:lstStyle>
            <a:lvl1pPr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41706 (Stroke)_#color-2217&amp;9559"/>
          <p:cNvSpPr/>
          <p:nvPr userDrawn="1">
            <p:custDataLst>
              <p:tags r:id="rId6"/>
            </p:custDataLst>
          </p:nvPr>
        </p:nvSpPr>
        <p:spPr>
          <a:xfrm>
            <a:off x="10896600" y="215900"/>
            <a:ext cx="1295400" cy="571500"/>
          </a:xfrm>
          <a:custGeom>
            <a:avLst/>
            <a:gdLst/>
            <a:ahLst/>
            <a:cxnLst/>
            <a:rect l="l" t="t" r="r" b="b"/>
            <a:pathLst>
              <a:path w="1295400" h="571500">
                <a:moveTo>
                  <a:pt x="1295400" y="0"/>
                </a:moveTo>
                <a:lnTo>
                  <a:pt x="0" y="0"/>
                </a:lnTo>
                <a:lnTo>
                  <a:pt x="0" y="571500"/>
                </a:lnTo>
                <a:lnTo>
                  <a:pt x="1295400" y="571500"/>
                </a:lnTo>
                <a:lnTo>
                  <a:pt x="1295400" y="546100"/>
                </a:lnTo>
                <a:lnTo>
                  <a:pt x="25400" y="546100"/>
                </a:lnTo>
                <a:lnTo>
                  <a:pt x="25400" y="25400"/>
                </a:lnTo>
                <a:lnTo>
                  <a:pt x="1295400" y="25400"/>
                </a:lnTo>
                <a:lnTo>
                  <a:pt x="12954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5" name="Rectangle 41707 (Stroke)_#color-2217&amp;9562"/>
          <p:cNvSpPr/>
          <p:nvPr userDrawn="1">
            <p:custDataLst>
              <p:tags r:id="rId7"/>
            </p:custDataLst>
          </p:nvPr>
        </p:nvSpPr>
        <p:spPr>
          <a:xfrm>
            <a:off x="8445500" y="0"/>
            <a:ext cx="3251200" cy="508000"/>
          </a:xfrm>
          <a:custGeom>
            <a:avLst/>
            <a:gdLst/>
            <a:ahLst/>
            <a:cxnLst/>
            <a:rect l="l" t="t" r="r" b="b"/>
            <a:pathLst>
              <a:path w="3251200" h="508000">
                <a:moveTo>
                  <a:pt x="25400" y="0"/>
                </a:moveTo>
                <a:lnTo>
                  <a:pt x="25400" y="482600"/>
                </a:lnTo>
                <a:lnTo>
                  <a:pt x="3225800" y="482600"/>
                </a:lnTo>
                <a:lnTo>
                  <a:pt x="3225800" y="0"/>
                </a:lnTo>
                <a:lnTo>
                  <a:pt x="3251200" y="0"/>
                </a:lnTo>
                <a:lnTo>
                  <a:pt x="3251200" y="508000"/>
                </a:lnTo>
                <a:lnTo>
                  <a:pt x="0" y="508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/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5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1707 (Stroke)_#color-2217&amp;956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0426700" cy="5537200"/>
          </a:xfrm>
          <a:custGeom>
            <a:avLst/>
            <a:gdLst/>
            <a:ahLst/>
            <a:cxnLst/>
            <a:rect l="l" t="t" r="r" b="b"/>
            <a:pathLst>
              <a:path w="10426700" h="5537200">
                <a:moveTo>
                  <a:pt x="0" y="5511800"/>
                </a:moveTo>
                <a:lnTo>
                  <a:pt x="10401300" y="5511800"/>
                </a:lnTo>
                <a:lnTo>
                  <a:pt x="10401300" y="0"/>
                </a:lnTo>
                <a:lnTo>
                  <a:pt x="10426700" y="0"/>
                </a:lnTo>
                <a:lnTo>
                  <a:pt x="10426700" y="5537200"/>
                </a:lnTo>
                <a:lnTo>
                  <a:pt x="0" y="5537200"/>
                </a:lnTo>
                <a:lnTo>
                  <a:pt x="0" y="551180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10" name="Rectangle 41706 (Stroke)_#color-2217&amp;9568"/>
          <p:cNvSpPr/>
          <p:nvPr userDrawn="1">
            <p:custDataLst>
              <p:tags r:id="rId4"/>
            </p:custDataLst>
          </p:nvPr>
        </p:nvSpPr>
        <p:spPr>
          <a:xfrm>
            <a:off x="8572500" y="4267200"/>
            <a:ext cx="3619500" cy="2590800"/>
          </a:xfrm>
          <a:custGeom>
            <a:avLst/>
            <a:gdLst/>
            <a:ahLst/>
            <a:cxnLst/>
            <a:rect l="l" t="t" r="r" b="b"/>
            <a:pathLst>
              <a:path w="3619500" h="2590800">
                <a:moveTo>
                  <a:pt x="3619500" y="0"/>
                </a:moveTo>
                <a:lnTo>
                  <a:pt x="0" y="0"/>
                </a:lnTo>
                <a:lnTo>
                  <a:pt x="0" y="2590800"/>
                </a:lnTo>
                <a:lnTo>
                  <a:pt x="25400" y="2590800"/>
                </a:lnTo>
                <a:lnTo>
                  <a:pt x="25400" y="25400"/>
                </a:lnTo>
                <a:lnTo>
                  <a:pt x="3619500" y="25400"/>
                </a:lnTo>
                <a:lnTo>
                  <a:pt x="3619500" y="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52950" y="3023453"/>
            <a:ext cx="6878250" cy="2374047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452950" y="304800"/>
            <a:ext cx="8643550" cy="2277882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4900" b="1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6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Rectangle 41707 (Stroke)_#color-2217&amp;9583"/>
          <p:cNvSpPr/>
          <p:nvPr userDrawn="1">
            <p:custDataLst>
              <p:tags r:id="rId3"/>
            </p:custDataLst>
          </p:nvPr>
        </p:nvSpPr>
        <p:spPr>
          <a:xfrm>
            <a:off x="2514600" y="0"/>
            <a:ext cx="9677400" cy="5791200"/>
          </a:xfrm>
          <a:custGeom>
            <a:avLst/>
            <a:gdLst/>
            <a:ahLst/>
            <a:cxnLst/>
            <a:rect l="l" t="t" r="r" b="b"/>
            <a:pathLst>
              <a:path w="9677400" h="5791200">
                <a:moveTo>
                  <a:pt x="25400" y="0"/>
                </a:moveTo>
                <a:lnTo>
                  <a:pt x="0" y="0"/>
                </a:lnTo>
                <a:lnTo>
                  <a:pt x="0" y="5791200"/>
                </a:lnTo>
                <a:lnTo>
                  <a:pt x="9677400" y="5791200"/>
                </a:lnTo>
                <a:lnTo>
                  <a:pt x="9677400" y="5765800"/>
                </a:lnTo>
                <a:lnTo>
                  <a:pt x="25400" y="5765800"/>
                </a:lnTo>
                <a:lnTo>
                  <a:pt x="25400" y="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9" name="Rectangle 41706 (Stroke)_#color-2217&amp;9586"/>
          <p:cNvSpPr/>
          <p:nvPr userDrawn="1">
            <p:custDataLst>
              <p:tags r:id="rId4"/>
            </p:custDataLst>
          </p:nvPr>
        </p:nvSpPr>
        <p:spPr>
          <a:xfrm>
            <a:off x="0" y="4521200"/>
            <a:ext cx="4368800" cy="2336800"/>
          </a:xfrm>
          <a:custGeom>
            <a:avLst/>
            <a:gdLst/>
            <a:ahLst/>
            <a:cxnLst/>
            <a:rect l="l" t="t" r="r" b="b"/>
            <a:pathLst>
              <a:path w="4368800" h="2336800">
                <a:moveTo>
                  <a:pt x="4368800" y="2336800"/>
                </a:moveTo>
                <a:lnTo>
                  <a:pt x="4368800" y="0"/>
                </a:lnTo>
                <a:lnTo>
                  <a:pt x="0" y="0"/>
                </a:lnTo>
                <a:lnTo>
                  <a:pt x="0" y="25400"/>
                </a:lnTo>
                <a:lnTo>
                  <a:pt x="4343400" y="25400"/>
                </a:lnTo>
                <a:lnTo>
                  <a:pt x="4343400" y="2336800"/>
                </a:lnTo>
                <a:lnTo>
                  <a:pt x="4368800" y="2336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4635500" y="406400"/>
            <a:ext cx="7302500" cy="27681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635500" y="3576600"/>
            <a:ext cx="7302500" cy="206220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ags" Target="../tags/tag65.xml"/><Relationship Id="rId13" Type="http://schemas.openxmlformats.org/officeDocument/2006/relationships/tags" Target="../tags/tag66.xml"/><Relationship Id="rId14" Type="http://schemas.openxmlformats.org/officeDocument/2006/relationships/tags" Target="../tags/tag67.xml"/><Relationship Id="rId15" Type="http://schemas.openxmlformats.org/officeDocument/2006/relationships/tags" Target="../tags/tag68.xml"/><Relationship Id="rId16" Type="http://schemas.openxmlformats.org/officeDocument/2006/relationships/tags" Target="../tags/tag69.xml"/><Relationship Id="rId17" Type="http://schemas.openxmlformats.org/officeDocument/2006/relationships/tags" Target="../tags/tag70.xml"/><Relationship Id="rId18" Type="http://schemas.openxmlformats.org/officeDocument/2006/relationships/tags" Target="../tags/tag71.xml"/><Relationship Id="rId19" Type="http://schemas.openxmlformats.org/officeDocument/2006/relationships/tags" Target="../tags/tag72.xml"/><Relationship Id="rId20" Type="http://schemas.openxmlformats.org/officeDocument/2006/relationships/tags" Target="../tags/tag73.xml"/><Relationship Id="rId21" Type="http://schemas.openxmlformats.org/officeDocument/2006/relationships/tags" Target="../tags/tag74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1710 (Stroke)_#color-2217&amp;9571"/>
          <p:cNvSpPr/>
          <p:nvPr userDrawn="1">
            <p:custDataLst>
              <p:tags r:id="rId12"/>
            </p:custDataLst>
          </p:nvPr>
        </p:nvSpPr>
        <p:spPr>
          <a:xfrm>
            <a:off x="0" y="63373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1" name="Rectangle 41708 (Stroke)_#color-2217&amp;9574"/>
          <p:cNvSpPr/>
          <p:nvPr userDrawn="1">
            <p:custDataLst>
              <p:tags r:id="rId13"/>
            </p:custDataLst>
          </p:nvPr>
        </p:nvSpPr>
        <p:spPr>
          <a:xfrm>
            <a:off x="215900" y="6489700"/>
            <a:ext cx="1422400" cy="368300"/>
          </a:xfrm>
          <a:custGeom>
            <a:avLst/>
            <a:gdLst/>
            <a:ahLst/>
            <a:cxnLst/>
            <a:rect l="l" t="t" r="r" b="b"/>
            <a:pathLst>
              <a:path w="1422400" h="368300">
                <a:moveTo>
                  <a:pt x="1422400" y="368300"/>
                </a:moveTo>
                <a:lnTo>
                  <a:pt x="1422400" y="0"/>
                </a:lnTo>
                <a:lnTo>
                  <a:pt x="0" y="0"/>
                </a:lnTo>
                <a:lnTo>
                  <a:pt x="0" y="368300"/>
                </a:lnTo>
                <a:lnTo>
                  <a:pt x="25400" y="368300"/>
                </a:lnTo>
                <a:lnTo>
                  <a:pt x="25400" y="25400"/>
                </a:lnTo>
                <a:lnTo>
                  <a:pt x="1397000" y="25400"/>
                </a:lnTo>
                <a:lnTo>
                  <a:pt x="1397000" y="368300"/>
                </a:lnTo>
                <a:lnTo>
                  <a:pt x="1422400" y="36830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2" name="Rectangle 41706 (Stroke)_#color-2217&amp;9577"/>
          <p:cNvSpPr/>
          <p:nvPr userDrawn="1">
            <p:custDataLst>
              <p:tags r:id="rId14"/>
            </p:custDataLst>
          </p:nvPr>
        </p:nvSpPr>
        <p:spPr>
          <a:xfrm>
            <a:off x="10337800" y="0"/>
            <a:ext cx="1663700" cy="381000"/>
          </a:xfrm>
          <a:custGeom>
            <a:avLst/>
            <a:gdLst/>
            <a:ahLst/>
            <a:cxnLst/>
            <a:rect l="l" t="t" r="r" b="b"/>
            <a:pathLst>
              <a:path w="1663700" h="381000">
                <a:moveTo>
                  <a:pt x="25400" y="0"/>
                </a:moveTo>
                <a:lnTo>
                  <a:pt x="25400" y="355600"/>
                </a:lnTo>
                <a:lnTo>
                  <a:pt x="1638300" y="355600"/>
                </a:lnTo>
                <a:lnTo>
                  <a:pt x="1638300" y="0"/>
                </a:lnTo>
                <a:lnTo>
                  <a:pt x="1663700" y="0"/>
                </a:lnTo>
                <a:lnTo>
                  <a:pt x="1663700" y="381000"/>
                </a:lnTo>
                <a:lnTo>
                  <a:pt x="0" y="381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3" name="Rectangle 41710 (Stroke)_#color-2217&amp;9571"/>
          <p:cNvSpPr/>
          <p:nvPr userDrawn="1">
            <p:custDataLst>
              <p:tags r:id="rId15"/>
            </p:custDataLst>
          </p:nvPr>
        </p:nvSpPr>
        <p:spPr>
          <a:xfrm flipH="1">
            <a:off x="11582400" y="2032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74519"/>
            <a:ext cx="10802112" cy="2103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[课题]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4297680"/>
            <a:ext cx="1080211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81777A"/>
                </a:solidFill>
                <a:latin typeface="华文中宋"/>
                <a:ea typeface="华文中宋"/>
                <a:cs typeface="华文中宋"/>
              </a:rPr>
              <a:t>[年级] · [教材版本] · [课时]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起点检测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[入门题题干]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[独立作答并写依据]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先看条件与目标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[核心例题完整题干]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[哪些条件指向哪种策略]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为什么选这个方法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3193324"/>
            <a:ext cx="5172456" cy="830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[可考虑的策略A及其条件]</a:t>
            </a:r>
          </a:p>
        </p:txBody>
      </p:sp>
      <p:sp>
        <p:nvSpPr>
          <p:cNvPr id="4" name="body-block"/>
          <p:cNvSpPr txBox="1"/>
          <p:nvPr/>
        </p:nvSpPr>
        <p:spPr>
          <a:xfrm>
            <a:off x="6324600" y="3193324"/>
            <a:ext cx="5172456" cy="830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[策略B及其条件]</a:t>
            </a:r>
          </a:p>
        </p:txBody>
      </p:sp>
      <p:sp>
        <p:nvSpPr>
          <p:cNvPr id="5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[如何根据本题条件选择]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从条件走到关键式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321560"/>
            <a:ext cx="10802112" cy="2987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[题目及必要前式]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[关键变形及依据]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[尚待完成的步骤]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[下一步是什么]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完成并检验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649728"/>
            <a:ext cx="10802112" cy="20096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[完整求解的后续步骤]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[条件、分支或端点检查]</a:t>
            </a:r>
          </a:p>
        </p:txBody>
      </p:sp>
      <p:sp>
        <p:nvSpPr>
          <p:cNvPr id="4" name="emph-block"/>
          <p:cNvSpPr/>
          <p:nvPr/>
        </p:nvSpPr>
        <p:spPr>
          <a:xfrm>
            <a:off x="694944" y="5550407"/>
            <a:ext cx="10802112" cy="713232"/>
          </a:xfrm>
          <a:prstGeom prst="rect">
            <a:avLst/>
          </a:prstGeom>
          <a:solidFill>
            <a:srgbClr val="F8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lnSpc>
                <a:spcPts val="4464"/>
              </a:lnSpc>
            </a:pPr>
            <a:r>
              <a:rPr sz="3200" b="1">
                <a:solidFill>
                  <a:srgbClr val="9B3447"/>
                </a:solidFill>
                <a:latin typeface="华文中宋"/>
                <a:ea typeface="华文中宋"/>
                <a:cs typeface="华文中宋"/>
              </a:rPr>
              <a:t>[答案与完整性说明]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判断一个易错步骤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[具体错例步骤，标为合成或注明匿名来源]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[这一步何时成立，遗漏了什么]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同目标基础练习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[基础题完整题干]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[独立完成并保留依据]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改变一个条件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[变式题完整题干]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[哪一步需要修改]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自己选择方法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[迁移题完整题干]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[先说明策略，再完成推理]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退出检测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[针对核心策略的短题]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[独立完成]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把策略整理成方法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1572768"/>
            <a:ext cx="9704832" cy="46908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[什么条件下考虑本方法]</a:t>
            </a:r>
          </a:p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[最关键的一步及其依据]</a:t>
            </a:r>
          </a:p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[容易遗漏的条件或分支]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作业与自查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3006343"/>
            <a:ext cx="10802112" cy="20096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[明确作业题]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[学生可执行的自查要求]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  <p:tag name="KSO_WM_UNIT_TEXT_LAYER_COUNT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331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1"/>
  <p:tag name="KSO_WM_TEMPLATE_THUMBS_INDEX" val="1、9"/>
</p:tagLst>
</file>

<file path=ppt/tags/tag101.xml><?xml version="1.0" encoding="utf-8"?>
<p:tagLst xmlns:p="http://schemas.openxmlformats.org/presentationml/2006/main">
  <p:tag name="commondata" val="eyJoZGlkIjoiMThjMGUwNmZjMTU5NjA3NzRmMjdhODVlMDFjYzYxMDEifQ=="/>
  <p:tag name="resource_record_key" val="{&quot;19&quot;:[20344759],&quot;65&quot;:[2023331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F40B8"/>
      </a:accent1>
      <a:accent2>
        <a:srgbClr val="EB6A28"/>
      </a:accent2>
      <a:accent3>
        <a:srgbClr val="2876EB"/>
      </a:accent3>
      <a:accent4>
        <a:srgbClr val="2FAED6"/>
      </a:accent4>
      <a:accent5>
        <a:srgbClr val="2899EB"/>
      </a:accent5>
      <a:accent6>
        <a:srgbClr val="9163DE"/>
      </a:accent6>
      <a:hlink>
        <a:srgbClr val="658BD5"/>
      </a:hlink>
      <a:folHlink>
        <a:srgbClr val="A16AA5"/>
      </a:folHlink>
    </a:clrScheme>
    <a:fontScheme name="自定义 46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WPS 演示</Application>
  <PresentationFormat>宽屏</PresentationFormat>
  <Paragraphs>126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Cambria Math</vt:lpstr>
      <vt:lpstr>MS Mincho</vt:lpstr>
      <vt:lpstr>Yu Gothic UI</vt:lpstr>
      <vt:lpstr>华文中宋</vt:lpstr>
      <vt:lpstr>微软雅黑</vt:lpstr>
      <vt:lpstr>Arial Unicode MS</vt:lpstr>
      <vt:lpstr>MiSans Demibold</vt:lpstr>
      <vt:lpstr>Segoe Print</vt:lpstr>
      <vt:lpstr>Calibri</vt:lpstr>
      <vt:lpstr>WPS</vt:lpstr>
      <vt:lpstr>1_Office 主题​​</vt:lpstr>
      <vt:lpstr>Equation.KSEE3</vt:lpstr>
      <vt:lpstr>Equation.KSEE3</vt:lpstr>
      <vt:lpstr>导数的概念及其意义</vt:lpstr>
      <vt:lpstr>温故知新</vt:lpstr>
      <vt:lpstr>两种速度</vt:lpstr>
      <vt:lpstr>以抛物线                  为例</vt:lpstr>
      <vt:lpstr>定量看</vt:lpstr>
      <vt:lpstr>引入无穷小量与极限</vt:lpstr>
      <vt:lpstr>导数的概念</vt:lpstr>
      <vt:lpstr>导数的意义</vt:lpstr>
      <vt:lpstr>实践探究</vt:lpstr>
      <vt:lpstr>课堂小结</vt:lpstr>
      <vt:lpstr>作业布置</vt:lpstr>
      <vt:lpstr>教学设计阐述</vt:lpstr>
      <vt:lpstr>教学重难点及解决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[课题] · 习题课</dc:title>
  <dc:creator>张耀中</dc:creator>
  <cp:lastModifiedBy>张耀中</cp:lastModifiedBy>
  <cp:revision>32</cp:revision>
  <dcterms:created xsi:type="dcterms:W3CDTF">2023-08-09T12:44:00Z</dcterms:created>
  <dcterms:modified xsi:type="dcterms:W3CDTF">2026-03-06T05:21:21Z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0E85073815854EF0A955AC7BE247D992_13</vt:lpwstr>
  </property>
  <property fmtid="{D5CDD505-2E9C-101B-9397-08002B2CF9AE}" pid="3" name="KSOProductBuildVer">
    <vt:lpwstr>2052-12.1.0.25222</vt:lpwstr>
  </property>
</Properties>
</file>