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本课目标：[独立完成的任务]；成功标准：[可观察的数学表现]。</a:t>
            </a:r>
          </a:p>
          <a:p>
            <a:r>
              <a:t>核验状态：[来源、求解与工具核验记录]。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时间：[检测用时]；学生任务：[具体写、画、判断或说明]。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答案：[完整答案]；据此选择反馈：[两种预期路径]。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时间：[审题用时]；学生任务：[具体写、画、判断或说明]。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时间：[策略比较用时]；学生任务：[具体写、画、判断或说明]。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时间：[关键推导用时]；学生任务：[具体写、画、判断或说明]。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时间：[解答收束用时]；学生任务：[具体写、画、判断或说明]。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时间：[辨错用时]；学生任务：[具体写、画、判断或说明]。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正确修订：[最小修改及理由]。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时间：[基础练习用时]；学生任务：[具体写、画、判断或说明]。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答案与反馈：[完整解答及错误对应处理]。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时间：[变式用时]；学生任务：[具体写、画、判断或说明]。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答案：[完整答案和适用条件]。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时间：[迁移用时]；学生任务：[具体写、画、判断或说明]。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答案与评分：[关键步骤、答案、独立性]。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时间：[检测用时]；学生任务：[具体写、画、判断或说明]。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判据：[策略、条件、推理、结果]；后续：[依据实际结果安排]。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时间：[归纳用时]；学生任务：[具体写、画、判断或说明]。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时间：[作业用时]；学生任务：[具体写、画、判断或说明]。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教师用答案：[解答与检查点]。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cholarRed.Cover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863840" y="0"/>
            <a:ext cx="4328159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heme.surface"/>
          <p:cNvSpPr/>
          <p:nvPr/>
        </p:nvSpPr>
        <p:spPr>
          <a:xfrm>
            <a:off x="8266175" y="1874519"/>
            <a:ext cx="3291840" cy="3291840"/>
          </a:xfrm>
          <a:prstGeom prst="ellipse">
            <a:avLst/>
          </a:prstGeom>
          <a:noFill/>
          <a:ln w="15240">
            <a:solidFill>
              <a:srgbClr val="F2E5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theme.rule"/>
          <p:cNvCxnSpPr/>
          <p:nvPr/>
        </p:nvCxnSpPr>
        <p:spPr>
          <a:xfrm>
            <a:off x="8092440" y="3520440"/>
            <a:ext cx="3657600" cy="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theme.rule"/>
          <p:cNvCxnSpPr/>
          <p:nvPr/>
        </p:nvCxnSpPr>
        <p:spPr>
          <a:xfrm>
            <a:off x="9912096" y="1691640"/>
            <a:ext cx="0" cy="365760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theme.rule"/>
          <p:cNvCxnSpPr/>
          <p:nvPr/>
        </p:nvCxnSpPr>
        <p:spPr>
          <a:xfrm flipV="1">
            <a:off x="9912096" y="2523744"/>
            <a:ext cx="1307592" cy="996696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heme.surface"/>
          <p:cNvSpPr/>
          <p:nvPr/>
        </p:nvSpPr>
        <p:spPr>
          <a:xfrm>
            <a:off x="11164824" y="24688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heme.surface"/>
          <p:cNvSpPr/>
          <p:nvPr/>
        </p:nvSpPr>
        <p:spPr>
          <a:xfrm>
            <a:off x="777240" y="1371600"/>
            <a:ext cx="1005840" cy="594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cholarRed.Explo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cholarRed.Compa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6224015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heme.surface"/>
          <p:cNvSpPr/>
          <p:nvPr/>
        </p:nvSpPr>
        <p:spPr>
          <a:xfrm>
            <a:off x="804672" y="1554480"/>
            <a:ext cx="5163311" cy="54864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heme.surface"/>
          <p:cNvSpPr/>
          <p:nvPr/>
        </p:nvSpPr>
        <p:spPr>
          <a:xfrm>
            <a:off x="6224015" y="1554480"/>
            <a:ext cx="5163311" cy="54864"/>
          </a:xfrm>
          <a:prstGeom prst="rect">
            <a:avLst/>
          </a:prstGeom>
          <a:solidFill>
            <a:srgbClr val="426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cholarRed.Takeaway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49808" y="1371600"/>
            <a:ext cx="54864" cy="452628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1078992" y="5559552"/>
            <a:ext cx="10213848" cy="0"/>
          </a:xfrm>
          <a:prstGeom prst="line">
            <a:avLst/>
          </a:prstGeom>
          <a:ln w="15240">
            <a:solidFill>
              <a:srgbClr val="9F29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cholarRed.Practi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210312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804672" y="3877056"/>
            <a:ext cx="10515600" cy="2203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theme.rule"/>
          <p:cNvCxnSpPr/>
          <p:nvPr/>
        </p:nvCxnSpPr>
        <p:spPr>
          <a:xfrm>
            <a:off x="1078992" y="4416552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theme.rule"/>
          <p:cNvCxnSpPr/>
          <p:nvPr/>
        </p:nvCxnSpPr>
        <p:spPr>
          <a:xfrm>
            <a:off x="1078992" y="4956048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cholarRed.Visual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ScholarRed.Sequen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cholarRed.Notes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0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高中数学 · 课堂研习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874519"/>
            <a:ext cx="662940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6750"/>
              </a:lnSpc>
              <a:spcAft>
                <a:spcPts val="900"/>
              </a:spcAft>
            </a:pPr>
            <a:r>
              <a:rPr sz="50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[课题]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635508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970"/>
              </a:lnSpc>
              <a:spcAft>
                <a:spcPts val="900"/>
              </a:spcAft>
            </a:pPr>
            <a:r>
              <a:rPr sz="22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[年级] · [教材版本] · [课时]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起点检测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[入门题题干]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[独立作答并写依据]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先看条件与目标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[核心例题完整题干]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[哪些条件指向哪种策略]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对照与辨析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为什么选这个方法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810512"/>
            <a:ext cx="4614671" cy="6057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[可考虑的策略A及其条件]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335" y="1810512"/>
            <a:ext cx="4614671" cy="6057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[策略B及其条件]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[如何根据本题条件选择]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从条件走到关键式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678620"/>
            <a:ext cx="41148" cy="183451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78620"/>
            <a:ext cx="9692640" cy="18345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[题目及必要前式]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[关键变形及依据]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[尚待完成的步骤]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[下一步是什么]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完成并检验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899791"/>
            <a:ext cx="41148" cy="122301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899791"/>
            <a:ext cx="9692640" cy="12230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[完整求解的后续步骤]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[条件、分支或端点检查]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1078992" y="5486400"/>
            <a:ext cx="9966960" cy="36576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9612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[答案与完整性说明]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判断一个易错步骤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[具体错例步骤，标为合成或注明匿名来源]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[这一步何时成立，遗漏了什么]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同目标基础练习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[基础题完整题干]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[独立完成并保留依据]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改变一个条件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[变式题完整题干]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[哪一步需要修改]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自己选择方法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[迁移题完整题干]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[先说明策略，再完成推理]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退出检测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[针对核心策略的短题]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[独立完成]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把策略整理成方法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57525"/>
            <a:ext cx="9692640" cy="18859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[什么条件下考虑本方法]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[最关键的一步及其依据]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[容易遗漏的条件或分支]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作业与自查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3297554"/>
            <a:ext cx="41148" cy="122301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297554"/>
            <a:ext cx="9692640" cy="12230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[明确作业题]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[学生可执行的自查要求]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绛红书院">
  <a:themeElements>
    <a:clrScheme name="Office">
      <a:dk1>
        <a:srgbClr val="29252A"/>
      </a:dk1>
      <a:lt1>
        <a:srgbClr val="FFFFFF"/>
      </a:lt1>
      <a:dk2>
        <a:srgbClr val="651C31"/>
      </a:dk2>
      <a:lt2>
        <a:srgbClr val="F8F5F0"/>
      </a:lt2>
      <a:accent1>
        <a:srgbClr val="9F2943"/>
      </a:accent1>
      <a:accent2>
        <a:srgbClr val="42675F"/>
      </a:accent2>
      <a:accent3>
        <a:srgbClr val="807378"/>
      </a:accent3>
      <a:accent4>
        <a:srgbClr val="F2E5E6"/>
      </a:accent4>
      <a:accent5>
        <a:srgbClr val="DFD5D0"/>
      </a:accent5>
      <a:accent6>
        <a:srgbClr val="651C31"/>
      </a:accent6>
      <a:hlink>
        <a:srgbClr val="9F2943"/>
      </a:hlink>
      <a:folHlink>
        <a:srgbClr val="42675F"/>
      </a:folHlink>
    </a:clrScheme>
    <a:fontScheme name="Office">
      <a:majorFont>
        <a:latin typeface="华文中宋"/>
        <a:ea typeface="华文中宋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[课题] · 习题课</dc:title>
  <dc:subject/>
  <dc:creator/>
  <cp:keywords>math-lesson-theme:scholar-red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