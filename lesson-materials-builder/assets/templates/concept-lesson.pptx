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本课目标：[独立完成的任务]；成功标准：[可观察的数学表现]。</a:t>
            </a:r>
          </a:p>
          <a:p>
            <a:r>
              <a:t>核验状态：[来源、求解与工具核验记录]。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时间：[导入用时]；学生任务：[具体写、画、判断或说明]。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时间：[旧知检查用时]；学生任务：[具体写、画、判断或说明]。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  <a:p>
            <a:r>
              <a:t>答案与判断标准：[完整答案和关键依据]。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时间：[探究起点用时]；学生任务：[具体写、画、判断或说明]。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时间：[探究推进用时]；学生任务：[具体写、画、判断或说明]。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时间：[概括用时]；学生任务：[具体写、画、判断或说明]。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时间：[辨析用时]；学生任务：[具体写、画、判断或说明]。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时间：[例题分析用时]；学生任务：[具体写、画、判断或说明]。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  <a:p>
            <a:r>
              <a:t>完整答案：[逐步解答和依据]。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时间：[例题讲解用时]；学生任务：[具体写、画、判断或说明]。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时间：[基础练习用时]；学生任务：[具体写、画、判断或说明]。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  <a:p>
            <a:r>
              <a:t>答案：[答案]；判断标准：[步骤与结论]；反馈：[对应错误的处理]。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时间：[变式练习用时]；学生任务：[具体写、画、判断或说明]。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  <a:p>
            <a:r>
              <a:t>答案与关键依据：[求解并核验]。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时间：[退出检测用时]；学生任务：[具体写、画、判断或说明]。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  <a:p>
            <a:r>
              <a:t>评分依据：[可观察标准]；结果处理：[未达标如何补救]。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时间：[归纳用时]；学生任务：[具体写、画、判断或说明]。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时间：[作业说明用时]；学生任务：[具体写、画、判断或说明]。</a:t>
            </a:r>
          </a:p>
          <a:p>
            <a:r>
              <a:t>预期回答：[关键结果及依据]；可能错误：[预设风险，不是课堂事实]。</a:t>
            </a:r>
          </a:p>
          <a:p>
            <a:r>
              <a:t>追问：[具体问题]；先给提示：[最小支架]；仍困难时：[进一步提示]。</a:t>
            </a:r>
          </a:p>
          <a:p>
            <a:r>
              <a:t>板书：[保留的式子或关系]；转场：[根据哪个结论进入下一环节]。</a:t>
            </a:r>
          </a:p>
          <a:p>
            <a:r>
              <a:t>作业解答与检查要点：[教师用答案]。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ScholarRed.Cover">
    <p:bg>
      <p:bgPr>
        <a:solidFill>
          <a:srgbClr val="651C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7863840" y="0"/>
            <a:ext cx="4328159" cy="685800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heme.surface"/>
          <p:cNvSpPr/>
          <p:nvPr/>
        </p:nvSpPr>
        <p:spPr>
          <a:xfrm>
            <a:off x="8266175" y="1874519"/>
            <a:ext cx="3291840" cy="3291840"/>
          </a:xfrm>
          <a:prstGeom prst="ellipse">
            <a:avLst/>
          </a:prstGeom>
          <a:noFill/>
          <a:ln w="15240">
            <a:solidFill>
              <a:srgbClr val="F2E5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theme.rule"/>
          <p:cNvCxnSpPr/>
          <p:nvPr/>
        </p:nvCxnSpPr>
        <p:spPr>
          <a:xfrm>
            <a:off x="8092440" y="3520440"/>
            <a:ext cx="3657600" cy="0"/>
          </a:xfrm>
          <a:prstGeom prst="line">
            <a:avLst/>
          </a:prstGeom>
          <a:ln w="15240">
            <a:solidFill>
              <a:srgbClr val="F2E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theme.rule"/>
          <p:cNvCxnSpPr/>
          <p:nvPr/>
        </p:nvCxnSpPr>
        <p:spPr>
          <a:xfrm>
            <a:off x="9912096" y="1691640"/>
            <a:ext cx="0" cy="3657600"/>
          </a:xfrm>
          <a:prstGeom prst="line">
            <a:avLst/>
          </a:prstGeom>
          <a:ln w="15240">
            <a:solidFill>
              <a:srgbClr val="F2E5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theme.rule"/>
          <p:cNvCxnSpPr/>
          <p:nvPr/>
        </p:nvCxnSpPr>
        <p:spPr>
          <a:xfrm flipV="1">
            <a:off x="9912096" y="2523744"/>
            <a:ext cx="1307592" cy="996696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heme.surface"/>
          <p:cNvSpPr/>
          <p:nvPr/>
        </p:nvSpPr>
        <p:spPr>
          <a:xfrm>
            <a:off x="11164824" y="246888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heme.surface"/>
          <p:cNvSpPr/>
          <p:nvPr/>
        </p:nvSpPr>
        <p:spPr>
          <a:xfrm>
            <a:off x="777240" y="1371600"/>
            <a:ext cx="1005840" cy="594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cholarRed.Explore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theme.rule"/>
          <p:cNvCxnSpPr/>
          <p:nvPr/>
        </p:nvCxnSpPr>
        <p:spPr>
          <a:xfrm>
            <a:off x="786384" y="1252728"/>
            <a:ext cx="10625328" cy="0"/>
          </a:xfrm>
          <a:prstGeom prst="line">
            <a:avLst/>
          </a:prstGeom>
          <a:ln w="1524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cholarRed.Compare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theme.rule"/>
          <p:cNvCxnSpPr/>
          <p:nvPr/>
        </p:nvCxnSpPr>
        <p:spPr>
          <a:xfrm>
            <a:off x="786384" y="1252728"/>
            <a:ext cx="10625328" cy="0"/>
          </a:xfrm>
          <a:prstGeom prst="line">
            <a:avLst/>
          </a:prstGeom>
          <a:ln w="1524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heme.surface"/>
          <p:cNvSpPr/>
          <p:nvPr/>
        </p:nvSpPr>
        <p:spPr>
          <a:xfrm>
            <a:off x="804672" y="1554480"/>
            <a:ext cx="5163311" cy="388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heme.surface"/>
          <p:cNvSpPr/>
          <p:nvPr/>
        </p:nvSpPr>
        <p:spPr>
          <a:xfrm>
            <a:off x="6224015" y="1554480"/>
            <a:ext cx="5163311" cy="3886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heme.surface"/>
          <p:cNvSpPr/>
          <p:nvPr/>
        </p:nvSpPr>
        <p:spPr>
          <a:xfrm>
            <a:off x="804672" y="1554480"/>
            <a:ext cx="5163311" cy="54864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heme.surface"/>
          <p:cNvSpPr/>
          <p:nvPr/>
        </p:nvSpPr>
        <p:spPr>
          <a:xfrm>
            <a:off x="6224015" y="1554480"/>
            <a:ext cx="5163311" cy="54864"/>
          </a:xfrm>
          <a:prstGeom prst="rect">
            <a:avLst/>
          </a:prstGeom>
          <a:solidFill>
            <a:srgbClr val="426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cholarRed.Takeaway">
    <p:bg>
      <p:bgPr>
        <a:solidFill>
          <a:srgbClr val="651C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749808" y="1371600"/>
            <a:ext cx="54864" cy="452628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theme.rule"/>
          <p:cNvCxnSpPr/>
          <p:nvPr/>
        </p:nvCxnSpPr>
        <p:spPr>
          <a:xfrm>
            <a:off x="1078992" y="5559552"/>
            <a:ext cx="10213848" cy="0"/>
          </a:xfrm>
          <a:prstGeom prst="line">
            <a:avLst/>
          </a:prstGeom>
          <a:ln w="15240">
            <a:solidFill>
              <a:srgbClr val="9F29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cholarRed.Practice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theme.rule"/>
          <p:cNvCxnSpPr/>
          <p:nvPr/>
        </p:nvCxnSpPr>
        <p:spPr>
          <a:xfrm>
            <a:off x="786384" y="1252728"/>
            <a:ext cx="10625328" cy="0"/>
          </a:xfrm>
          <a:prstGeom prst="line">
            <a:avLst/>
          </a:prstGeom>
          <a:ln w="1524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heme.surface"/>
          <p:cNvSpPr/>
          <p:nvPr/>
        </p:nvSpPr>
        <p:spPr>
          <a:xfrm>
            <a:off x="804672" y="1572768"/>
            <a:ext cx="10515600" cy="210312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heme.surface"/>
          <p:cNvSpPr/>
          <p:nvPr/>
        </p:nvSpPr>
        <p:spPr>
          <a:xfrm>
            <a:off x="804672" y="3877056"/>
            <a:ext cx="10515600" cy="2203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theme.rule"/>
          <p:cNvCxnSpPr/>
          <p:nvPr/>
        </p:nvCxnSpPr>
        <p:spPr>
          <a:xfrm>
            <a:off x="1078992" y="4416552"/>
            <a:ext cx="9966960" cy="0"/>
          </a:xfrm>
          <a:prstGeom prst="line">
            <a:avLst/>
          </a:prstGeom>
          <a:ln w="635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theme.rule"/>
          <p:cNvCxnSpPr/>
          <p:nvPr/>
        </p:nvCxnSpPr>
        <p:spPr>
          <a:xfrm>
            <a:off x="1078992" y="4956048"/>
            <a:ext cx="9966960" cy="0"/>
          </a:xfrm>
          <a:prstGeom prst="line">
            <a:avLst/>
          </a:prstGeom>
          <a:ln w="635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cholarRed.Visual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theme.rule"/>
          <p:cNvCxnSpPr/>
          <p:nvPr/>
        </p:nvCxnSpPr>
        <p:spPr>
          <a:xfrm>
            <a:off x="786384" y="1252728"/>
            <a:ext cx="10625328" cy="0"/>
          </a:xfrm>
          <a:prstGeom prst="line">
            <a:avLst/>
          </a:prstGeom>
          <a:ln w="1524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heme.surface"/>
          <p:cNvSpPr/>
          <p:nvPr/>
        </p:nvSpPr>
        <p:spPr>
          <a:xfrm>
            <a:off x="804672" y="1572768"/>
            <a:ext cx="10515600" cy="3858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ScholarRed.Sequence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theme.rule"/>
          <p:cNvCxnSpPr/>
          <p:nvPr/>
        </p:nvCxnSpPr>
        <p:spPr>
          <a:xfrm>
            <a:off x="786384" y="1252728"/>
            <a:ext cx="10625328" cy="0"/>
          </a:xfrm>
          <a:prstGeom prst="line">
            <a:avLst/>
          </a:prstGeom>
          <a:ln w="1524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heme.surface"/>
          <p:cNvSpPr/>
          <p:nvPr/>
        </p:nvSpPr>
        <p:spPr>
          <a:xfrm>
            <a:off x="804672" y="1572768"/>
            <a:ext cx="10515600" cy="3858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cholarRed.Notes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eme.surface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theme.rule"/>
          <p:cNvCxnSpPr/>
          <p:nvPr/>
        </p:nvCxnSpPr>
        <p:spPr>
          <a:xfrm>
            <a:off x="786384" y="1252728"/>
            <a:ext cx="10625328" cy="0"/>
          </a:xfrm>
          <a:prstGeom prst="line">
            <a:avLst/>
          </a:prstGeom>
          <a:ln w="15240">
            <a:solidFill>
              <a:srgbClr val="DFD5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700"/>
              </a:lnSpc>
              <a:spcAft>
                <a:spcPts val="900"/>
              </a:spcAft>
            </a:pPr>
            <a:r>
              <a:rPr sz="2000" b="0">
                <a:solidFill>
                  <a:srgbClr val="F2E5E6"/>
                </a:solidFill>
                <a:latin typeface="微软雅黑"/>
                <a:ea typeface="微软雅黑"/>
                <a:cs typeface="微软雅黑"/>
              </a:rPr>
              <a:t>高中数学 · 课堂研习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874519"/>
            <a:ext cx="6629400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6750"/>
              </a:lnSpc>
              <a:spcAft>
                <a:spcPts val="900"/>
              </a:spcAft>
            </a:pPr>
            <a:r>
              <a:rPr sz="5000" b="0">
                <a:solidFill>
                  <a:srgbClr val="FFFFFF"/>
                </a:solidFill>
                <a:latin typeface="华文中宋"/>
                <a:ea typeface="华文中宋"/>
                <a:cs typeface="华文中宋"/>
              </a:rPr>
              <a:t>[课题]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572000"/>
            <a:ext cx="6355080" cy="1325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970"/>
              </a:lnSpc>
              <a:spcAft>
                <a:spcPts val="900"/>
              </a:spcAft>
            </a:pPr>
            <a:r>
              <a:rPr sz="2200" b="0">
                <a:solidFill>
                  <a:srgbClr val="F2E5E6"/>
                </a:solidFill>
                <a:latin typeface="微软雅黑"/>
                <a:ea typeface="微软雅黑"/>
                <a:cs typeface="微软雅黑"/>
              </a:rPr>
              <a:t>[年级] · [教材版本] · [课时]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探究与推理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从问题进入</a:t>
            </a:r>
          </a:p>
        </p:txBody>
      </p:sp>
      <p:sp>
        <p:nvSpPr>
          <p:cNvPr id="4" name="theme.surface"/>
          <p:cNvSpPr/>
          <p:nvPr/>
        </p:nvSpPr>
        <p:spPr>
          <a:xfrm>
            <a:off x="841248" y="3290125"/>
            <a:ext cx="41148" cy="611505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290125"/>
            <a:ext cx="9692640" cy="61150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[具体问题、条件与需要解释的现象]</a:t>
            </a:r>
          </a:p>
        </p:txBody>
      </p:sp>
      <p:sp>
        <p:nvSpPr>
          <p:cNvPr id="6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[学生可进入的主问]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问题与练习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先用已有知识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755648"/>
            <a:ext cx="996696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[旧知检查题]</a:t>
            </a:r>
          </a:p>
        </p:txBody>
      </p:sp>
      <p:sp>
        <p:nvSpPr>
          <p:cNvPr id="5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[要求写出什么或解释什么]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探究与推理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遇到什么困难</a:t>
            </a:r>
          </a:p>
        </p:txBody>
      </p:sp>
      <p:sp>
        <p:nvSpPr>
          <p:cNvPr id="4" name="theme.surface"/>
          <p:cNvSpPr/>
          <p:nvPr/>
        </p:nvSpPr>
        <p:spPr>
          <a:xfrm>
            <a:off x="841248" y="2984372"/>
            <a:ext cx="41148" cy="122301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984372"/>
            <a:ext cx="9692640" cy="12230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[已有方法得到的结果]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[尚不能解释的具体问题]</a:t>
            </a:r>
          </a:p>
        </p:txBody>
      </p:sp>
      <p:sp>
        <p:nvSpPr>
          <p:cNvPr id="6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[为什么原方法不足]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探究与推理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把关系表示出来</a:t>
            </a:r>
          </a:p>
        </p:txBody>
      </p:sp>
      <p:sp>
        <p:nvSpPr>
          <p:cNvPr id="4" name="theme.surface"/>
          <p:cNvSpPr/>
          <p:nvPr/>
        </p:nvSpPr>
        <p:spPr>
          <a:xfrm>
            <a:off x="841248" y="2984372"/>
            <a:ext cx="41148" cy="122301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984372"/>
            <a:ext cx="9692640" cy="12230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[探究的对象或操作]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[表、图或式的具体信息]</a:t>
            </a:r>
          </a:p>
        </p:txBody>
      </p:sp>
      <p:sp>
        <p:nvSpPr>
          <p:cNvPr id="6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[待比较或待归纳的关系]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探究与推理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形成新的认识</a:t>
            </a:r>
          </a:p>
        </p:txBody>
      </p:sp>
      <p:sp>
        <p:nvSpPr>
          <p:cNvPr id="4" name="theme.surface"/>
          <p:cNvSpPr/>
          <p:nvPr/>
        </p:nvSpPr>
        <p:spPr>
          <a:xfrm>
            <a:off x="841248" y="2899791"/>
            <a:ext cx="41148" cy="1223010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899791"/>
            <a:ext cx="9692640" cy="12230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[探究中已得到的关键关系]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[从关系到结论的必要推理]</a:t>
            </a:r>
          </a:p>
        </p:txBody>
      </p:sp>
      <p:sp>
        <p:nvSpPr>
          <p:cNvPr id="6" name="theme.surface"/>
          <p:cNvSpPr/>
          <p:nvPr/>
        </p:nvSpPr>
        <p:spPr>
          <a:xfrm>
            <a:off x="1078992" y="5486400"/>
            <a:ext cx="9966960" cy="36576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596128"/>
            <a:ext cx="987552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510"/>
              </a:lnSpc>
              <a:spcAft>
                <a:spcPts val="900"/>
              </a:spcAft>
            </a:pPr>
            <a:r>
              <a:rPr sz="2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[准确结论及适用条件]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对照与辨析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辨别适用条件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1810512"/>
            <a:ext cx="4614671" cy="60579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510"/>
              </a:lnSpc>
              <a:spcAft>
                <a:spcPts val="900"/>
              </a:spcAft>
            </a:pPr>
            <a:r>
              <a:rPr sz="26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[符合条件的例]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8335" y="1810512"/>
            <a:ext cx="4614671" cy="60579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510"/>
              </a:lnSpc>
              <a:spcAft>
                <a:spcPts val="900"/>
              </a:spcAft>
            </a:pPr>
            <a:r>
              <a:rPr sz="26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[不符合条件的非例]</a:t>
            </a:r>
          </a:p>
        </p:txBody>
      </p:sp>
      <p:sp>
        <p:nvSpPr>
          <p:cNvPr id="6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[二者的关键区别]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问题与练习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选择方法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755648"/>
            <a:ext cx="996696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[典型例题完整题干]</a:t>
            </a:r>
          </a:p>
        </p:txBody>
      </p:sp>
      <p:sp>
        <p:nvSpPr>
          <p:cNvPr id="5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[为什么考虑本节方法]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探究与推理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写出关键推理</a:t>
            </a:r>
          </a:p>
        </p:txBody>
      </p:sp>
      <p:sp>
        <p:nvSpPr>
          <p:cNvPr id="4" name="theme.surface"/>
          <p:cNvSpPr/>
          <p:nvPr/>
        </p:nvSpPr>
        <p:spPr>
          <a:xfrm>
            <a:off x="841248" y="2594038"/>
            <a:ext cx="41148" cy="1834515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594038"/>
            <a:ext cx="9692640" cy="18345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[承接题目和条件]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[关键步骤一及依据]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[关键步骤二及依据]</a:t>
            </a:r>
          </a:p>
        </p:txBody>
      </p:sp>
      <p:sp>
        <p:nvSpPr>
          <p:cNvPr id="6" name="theme.surface"/>
          <p:cNvSpPr/>
          <p:nvPr/>
        </p:nvSpPr>
        <p:spPr>
          <a:xfrm>
            <a:off x="1078992" y="5486400"/>
            <a:ext cx="9966960" cy="36576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596128"/>
            <a:ext cx="987552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510"/>
              </a:lnSpc>
              <a:spcAft>
                <a:spcPts val="900"/>
              </a:spcAft>
            </a:pPr>
            <a:r>
              <a:rPr sz="2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[结果及必要检验]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问题与练习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基础练习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755648"/>
            <a:ext cx="996696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[基础题完整题干]</a:t>
            </a:r>
          </a:p>
        </p:txBody>
      </p:sp>
      <p:sp>
        <p:nvSpPr>
          <p:cNvPr id="5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[独立完成的具体任务]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问题与练习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条件改变之后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755648"/>
            <a:ext cx="996696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[只改变一个关键条件的变式题]</a:t>
            </a:r>
          </a:p>
        </p:txBody>
      </p:sp>
      <p:sp>
        <p:nvSpPr>
          <p:cNvPr id="5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[方法是否仍适用，为什么]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问题与练习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独立检验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755648"/>
            <a:ext cx="996696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645"/>
              </a:lnSpc>
              <a:spcAft>
                <a:spcPts val="900"/>
              </a:spcAft>
            </a:pPr>
            <a:r>
              <a:rPr sz="27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[针对本课目标的短检测]</a:t>
            </a:r>
          </a:p>
        </p:txBody>
      </p:sp>
      <p:sp>
        <p:nvSpPr>
          <p:cNvPr id="5" name="theme.surface"/>
          <p:cNvSpPr/>
          <p:nvPr/>
        </p:nvSpPr>
        <p:spPr>
          <a:xfrm>
            <a:off x="804672" y="5655564"/>
            <a:ext cx="10515600" cy="708660"/>
          </a:xfrm>
          <a:prstGeom prst="rect">
            <a:avLst/>
          </a:prstGeom>
          <a:solidFill>
            <a:srgbClr val="F2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5820155"/>
            <a:ext cx="1005840" cy="3291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430"/>
              </a:lnSpc>
              <a:spcAft>
                <a:spcPts val="900"/>
              </a:spcAft>
            </a:pPr>
            <a:r>
              <a:rPr sz="18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5747003"/>
            <a:ext cx="9052560" cy="5623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240"/>
              </a:lnSpc>
              <a:spcAft>
                <a:spcPts val="900"/>
              </a:spcAft>
            </a:pPr>
            <a:r>
              <a:rPr sz="24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[独立完成，不提前展示答案]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F2E5E6"/>
                </a:solidFill>
                <a:latin typeface="微软雅黑"/>
                <a:ea typeface="微软雅黑"/>
                <a:cs typeface="微软雅黑"/>
              </a:rPr>
              <a:t>核心结论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FFFFFF"/>
                </a:solidFill>
                <a:latin typeface="华文中宋"/>
                <a:ea typeface="华文中宋"/>
                <a:cs typeface="华文中宋"/>
              </a:rPr>
              <a:t>今天形成的方法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057525"/>
            <a:ext cx="9692640" cy="18859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050"/>
              </a:lnSpc>
              <a:spcAft>
                <a:spcPts val="900"/>
              </a:spcAft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[解决的核心问题]</a:t>
            </a:r>
          </a:p>
          <a:p>
            <a:pPr>
              <a:lnSpc>
                <a:spcPts val="4050"/>
              </a:lnSpc>
              <a:spcAft>
                <a:spcPts val="900"/>
              </a:spcAft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[方法的依据与适用条件]</a:t>
            </a:r>
          </a:p>
          <a:p>
            <a:pPr>
              <a:lnSpc>
                <a:spcPts val="4050"/>
              </a:lnSpc>
              <a:spcAft>
                <a:spcPts val="900"/>
              </a:spcAft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[最容易忽略的边界]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160"/>
              </a:lnSpc>
              <a:spcAft>
                <a:spcPts val="900"/>
              </a:spcAft>
            </a:pPr>
            <a:r>
              <a:rPr sz="1600" b="1">
                <a:solidFill>
                  <a:srgbClr val="9F2943"/>
                </a:solidFill>
                <a:latin typeface="微软雅黑"/>
                <a:ea typeface="微软雅黑"/>
                <a:cs typeface="微软雅黑"/>
              </a:rPr>
              <a:t>探究与推理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658368"/>
            <a:ext cx="10607040" cy="58521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4590"/>
              </a:lnSpc>
              <a:spcAft>
                <a:spcPts val="900"/>
              </a:spcAft>
            </a:pPr>
            <a:r>
              <a:rPr sz="3400" b="0">
                <a:solidFill>
                  <a:srgbClr val="29252A"/>
                </a:solidFill>
                <a:latin typeface="华文中宋"/>
                <a:ea typeface="华文中宋"/>
                <a:cs typeface="华文中宋"/>
              </a:rPr>
              <a:t>课后继续检验</a:t>
            </a:r>
          </a:p>
        </p:txBody>
      </p:sp>
      <p:sp>
        <p:nvSpPr>
          <p:cNvPr id="4" name="theme.surface"/>
          <p:cNvSpPr/>
          <p:nvPr/>
        </p:nvSpPr>
        <p:spPr>
          <a:xfrm>
            <a:off x="841248" y="2991802"/>
            <a:ext cx="41148" cy="1834515"/>
          </a:xfrm>
          <a:prstGeom prst="rect">
            <a:avLst/>
          </a:prstGeom>
          <a:solidFill>
            <a:srgbClr val="9F29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991802"/>
            <a:ext cx="9692640" cy="183451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[明确作业题或可核实的来源]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[需要解释的关键依据]</a:t>
            </a:r>
          </a:p>
          <a:p>
            <a:pPr>
              <a:lnSpc>
                <a:spcPts val="3915"/>
              </a:lnSpc>
              <a:spcAft>
                <a:spcPts val="900"/>
              </a:spcAft>
            </a:pPr>
            <a:r>
              <a:rPr sz="2900" b="0">
                <a:solidFill>
                  <a:srgbClr val="29252A"/>
                </a:solidFill>
                <a:latin typeface="微软雅黑"/>
                <a:ea typeface="微软雅黑"/>
                <a:cs typeface="微软雅黑"/>
              </a:rPr>
              <a:t>[可选拓展任务]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绛红书院">
  <a:themeElements>
    <a:clrScheme name="Office">
      <a:dk1>
        <a:srgbClr val="29252A"/>
      </a:dk1>
      <a:lt1>
        <a:srgbClr val="FFFFFF"/>
      </a:lt1>
      <a:dk2>
        <a:srgbClr val="651C31"/>
      </a:dk2>
      <a:lt2>
        <a:srgbClr val="F8F5F0"/>
      </a:lt2>
      <a:accent1>
        <a:srgbClr val="9F2943"/>
      </a:accent1>
      <a:accent2>
        <a:srgbClr val="42675F"/>
      </a:accent2>
      <a:accent3>
        <a:srgbClr val="807378"/>
      </a:accent3>
      <a:accent4>
        <a:srgbClr val="F2E5E6"/>
      </a:accent4>
      <a:accent5>
        <a:srgbClr val="DFD5D0"/>
      </a:accent5>
      <a:accent6>
        <a:srgbClr val="651C31"/>
      </a:accent6>
      <a:hlink>
        <a:srgbClr val="9F2943"/>
      </a:hlink>
      <a:folHlink>
        <a:srgbClr val="42675F"/>
      </a:folHlink>
    </a:clrScheme>
    <a:fontScheme name="Office">
      <a:majorFont>
        <a:latin typeface="华文中宋"/>
        <a:ea typeface="华文中宋"/>
        <a:cs typeface=""/>
        <a:font script="Jpan" typeface="ＭＳ Ｐゴシック"/>
        <a:font script="Hang" typeface="맑은 고딕"/>
        <a:font script="Hans" typeface="华文中宋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[课题] · 新授课</dc:title>
  <dc:subject/>
  <dc:creator/>
  <cp:keywords>math-lesson-theme:scholar-red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