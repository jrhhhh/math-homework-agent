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1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8"/>
  </p:notesMasterIdLst>
  <p:handoutMasterIdLst>
    <p:handoutMasterId r:id="rId18"/>
  </p:handout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9"/>
    <p:sldId id="265" r:id="rId7"/>
    <p:sldId id="266" r:id="rId6"/>
    <p:sldId id="267" r:id="rId5"/>
    <p:sldId id="268" r:id="rId4"/>
    <p:sldId id="269" r:id="rId23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3.xml"/><Relationship Id="rId5" Type="http://schemas.openxmlformats.org/officeDocument/2006/relationships/slide" Target="slides/slide12.xml"/><Relationship Id="rId6" Type="http://schemas.openxmlformats.org/officeDocument/2006/relationships/slide" Target="slides/slide11.xml"/><Relationship Id="rId7" Type="http://schemas.openxmlformats.org/officeDocument/2006/relationships/slide" Target="slides/slide10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9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handoutMaster" Target="handoutMasters/handout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ableStyles" Target="tableStyles.xml"/><Relationship Id="rId22" Type="http://schemas.openxmlformats.org/officeDocument/2006/relationships/tags" Target="tags/tag101.xml"/><Relationship Id="rId23" Type="http://schemas.openxmlformats.org/officeDocument/2006/relationships/slide" Target="slides/slide1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本课目标：[独立完成的任务]；成功标准：[可观察的数学表现]。</a:t>
            </a:r>
          </a:p>
          <a:p>
            <a:r>
              <a:t>核验状态：[来源、求解与工具核验记录]。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时间：[导入用时]；学生任务：[具体写、画、判断或说明]。</a:t>
            </a:r>
          </a:p>
          <a:p>
            <a:r>
              <a:t>预期回答：[关键结果及依据]；可能错误：[预设风险，不是课堂事实]。</a:t>
            </a:r>
          </a:p>
          <a:p>
            <a:r>
              <a:t>追问：[具体问题]；先给提示：[最小支架]；仍困难时：[进一步提示]。</a:t>
            </a:r>
          </a:p>
          <a:p>
            <a:r>
              <a:t>板书：[保留的式子或关系]；转场：[根据哪个结论进入下一环节]。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时间：[旧知检查用时]；学生任务：[具体写、画、判断或说明]。</a:t>
            </a:r>
          </a:p>
          <a:p>
            <a:r>
              <a:t>预期回答：[关键结果及依据]；可能错误：[预设风险，不是课堂事实]。</a:t>
            </a:r>
          </a:p>
          <a:p>
            <a:r>
              <a:t>追问：[具体问题]；先给提示：[最小支架]；仍困难时：[进一步提示]。</a:t>
            </a:r>
          </a:p>
          <a:p>
            <a:r>
              <a:t>板书：[保留的式子或关系]；转场：[根据哪个结论进入下一环节]。</a:t>
            </a:r>
          </a:p>
          <a:p>
            <a:r>
              <a:t>答案与判断标准：[完整答案和关键依据]。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时间：[探究起点用时]；学生任务：[具体写、画、判断或说明]。</a:t>
            </a:r>
          </a:p>
          <a:p>
            <a:r>
              <a:t>预期回答：[关键结果及依据]；可能错误：[预设风险，不是课堂事实]。</a:t>
            </a:r>
          </a:p>
          <a:p>
            <a:r>
              <a:t>追问：[具体问题]；先给提示：[最小支架]；仍困难时：[进一步提示]。</a:t>
            </a:r>
          </a:p>
          <a:p>
            <a:r>
              <a:t>板书：[保留的式子或关系]；转场：[根据哪个结论进入下一环节]。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时间：[探究推进用时]；学生任务：[具体写、画、判断或说明]。</a:t>
            </a:r>
          </a:p>
          <a:p>
            <a:r>
              <a:t>预期回答：[关键结果及依据]；可能错误：[预设风险，不是课堂事实]。</a:t>
            </a:r>
          </a:p>
          <a:p>
            <a:r>
              <a:t>追问：[具体问题]；先给提示：[最小支架]；仍困难时：[进一步提示]。</a:t>
            </a:r>
          </a:p>
          <a:p>
            <a:r>
              <a:t>板书：[保留的式子或关系]；转场：[根据哪个结论进入下一环节]。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时间：[概括用时]；学生任务：[具体写、画、判断或说明]。</a:t>
            </a:r>
          </a:p>
          <a:p>
            <a:r>
              <a:t>预期回答：[关键结果及依据]；可能错误：[预设风险，不是课堂事实]。</a:t>
            </a:r>
          </a:p>
          <a:p>
            <a:r>
              <a:t>追问：[具体问题]；先给提示：[最小支架]；仍困难时：[进一步提示]。</a:t>
            </a:r>
          </a:p>
          <a:p>
            <a:r>
              <a:t>板书：[保留的式子或关系]；转场：[根据哪个结论进入下一环节]。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时间：[辨析用时]；学生任务：[具体写、画、判断或说明]。</a:t>
            </a:r>
          </a:p>
          <a:p>
            <a:r>
              <a:t>预期回答：[关键结果及依据]；可能错误：[预设风险，不是课堂事实]。</a:t>
            </a:r>
          </a:p>
          <a:p>
            <a:r>
              <a:t>追问：[具体问题]；先给提示：[最小支架]；仍困难时：[进一步提示]。</a:t>
            </a:r>
          </a:p>
          <a:p>
            <a:r>
              <a:t>板书：[保留的式子或关系]；转场：[根据哪个结论进入下一环节]。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时间：[例题分析用时]；学生任务：[具体写、画、判断或说明]。</a:t>
            </a:r>
          </a:p>
          <a:p>
            <a:r>
              <a:t>预期回答：[关键结果及依据]；可能错误：[预设风险，不是课堂事实]。</a:t>
            </a:r>
          </a:p>
          <a:p>
            <a:r>
              <a:t>追问：[具体问题]；先给提示：[最小支架]；仍困难时：[进一步提示]。</a:t>
            </a:r>
          </a:p>
          <a:p>
            <a:r>
              <a:t>板书：[保留的式子或关系]；转场：[根据哪个结论进入下一环节]。</a:t>
            </a:r>
          </a:p>
          <a:p>
            <a:r>
              <a:t>完整答案：[逐步解答和依据]。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时间：[例题讲解用时]；学生任务：[具体写、画、判断或说明]。</a:t>
            </a:r>
          </a:p>
          <a:p>
            <a:r>
              <a:t>预期回答：[关键结果及依据]；可能错误：[预设风险，不是课堂事实]。</a:t>
            </a:r>
          </a:p>
          <a:p>
            <a:r>
              <a:t>追问：[具体问题]；先给提示：[最小支架]；仍困难时：[进一步提示]。</a:t>
            </a:r>
          </a:p>
          <a:p>
            <a:r>
              <a:t>板书：[保留的式子或关系]；转场：[根据哪个结论进入下一环节]。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时间：[基础练习用时]；学生任务：[具体写、画、判断或说明]。</a:t>
            </a:r>
          </a:p>
          <a:p>
            <a:r>
              <a:t>预期回答：[关键结果及依据]；可能错误：[预设风险，不是课堂事实]。</a:t>
            </a:r>
          </a:p>
          <a:p>
            <a:r>
              <a:t>追问：[具体问题]；先给提示：[最小支架]；仍困难时：[进一步提示]。</a:t>
            </a:r>
          </a:p>
          <a:p>
            <a:r>
              <a:t>板书：[保留的式子或关系]；转场：[根据哪个结论进入下一环节]。</a:t>
            </a:r>
          </a:p>
          <a:p>
            <a:r>
              <a:t>答案：[答案]；判断标准：[步骤与结论]；反馈：[对应错误的处理]。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时间：[变式练习用时]；学生任务：[具体写、画、判断或说明]。</a:t>
            </a:r>
          </a:p>
          <a:p>
            <a:r>
              <a:t>预期回答：[关键结果及依据]；可能错误：[预设风险，不是课堂事实]。</a:t>
            </a:r>
          </a:p>
          <a:p>
            <a:r>
              <a:t>追问：[具体问题]；先给提示：[最小支架]；仍困难时：[进一步提示]。</a:t>
            </a:r>
          </a:p>
          <a:p>
            <a:r>
              <a:t>板书：[保留的式子或关系]；转场：[根据哪个结论进入下一环节]。</a:t>
            </a:r>
          </a:p>
          <a:p>
            <a:r>
              <a:t>答案与关键依据：[求解并核验]。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时间：[退出检测用时]；学生任务：[具体写、画、判断或说明]。</a:t>
            </a:r>
          </a:p>
          <a:p>
            <a:r>
              <a:t>预期回答：[关键结果及依据]；可能错误：[预设风险，不是课堂事实]。</a:t>
            </a:r>
          </a:p>
          <a:p>
            <a:r>
              <a:t>追问：[具体问题]；先给提示：[最小支架]；仍困难时：[进一步提示]。</a:t>
            </a:r>
          </a:p>
          <a:p>
            <a:r>
              <a:t>板书：[保留的式子或关系]；转场：[根据哪个结论进入下一环节]。</a:t>
            </a:r>
          </a:p>
          <a:p>
            <a:r>
              <a:t>评分依据：[可观察标准]；结果处理：[未达标如何补救]。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时间：[归纳用时]；学生任务：[具体写、画、判断或说明]。</a:t>
            </a:r>
          </a:p>
          <a:p>
            <a:r>
              <a:t>预期回答：[关键结果及依据]；可能错误：[预设风险，不是课堂事实]。</a:t>
            </a:r>
          </a:p>
          <a:p>
            <a:r>
              <a:t>追问：[具体问题]；先给提示：[最小支架]；仍困难时：[进一步提示]。</a:t>
            </a:r>
          </a:p>
          <a:p>
            <a:r>
              <a:t>板书：[保留的式子或关系]；转场：[根据哪个结论进入下一环节]。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时间：[作业说明用时]；学生任务：[具体写、画、判断或说明]。</a:t>
            </a:r>
          </a:p>
          <a:p>
            <a:r>
              <a:t>预期回答：[关键结果及依据]；可能错误：[预设风险，不是课堂事实]。</a:t>
            </a:r>
          </a:p>
          <a:p>
            <a:r>
              <a:t>追问：[具体问题]；先给提示：[最小支架]；仍困难时：[进一步提示]。</a:t>
            </a:r>
          </a:p>
          <a:p>
            <a:r>
              <a:t>板书：[保留的式子或关系]；转场：[根据哪个结论进入下一环节]。</a:t>
            </a:r>
          </a:p>
          <a:p>
            <a:r>
              <a:t>作业解答与检查要点：[教师用答案]。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Relationship Id="rId7" Type="http://schemas.openxmlformats.org/officeDocument/2006/relationships/tags" Target="../tags/tag6.xml"/><Relationship Id="rId8" Type="http://schemas.openxmlformats.org/officeDocument/2006/relationships/tags" Target="../tags/tag7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8.xml"/><Relationship Id="rId3" Type="http://schemas.openxmlformats.org/officeDocument/2006/relationships/tags" Target="../tags/tag9.xml"/><Relationship Id="rId4" Type="http://schemas.openxmlformats.org/officeDocument/2006/relationships/tags" Target="../tags/tag10.xml"/><Relationship Id="rId5" Type="http://schemas.openxmlformats.org/officeDocument/2006/relationships/tags" Target="../tags/tag11.xml"/><Relationship Id="rId6" Type="http://schemas.openxmlformats.org/officeDocument/2006/relationships/tags" Target="../tags/tag1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3.xml"/><Relationship Id="rId3" Type="http://schemas.openxmlformats.org/officeDocument/2006/relationships/tags" Target="../tags/tag14.xml"/><Relationship Id="rId4" Type="http://schemas.openxmlformats.org/officeDocument/2006/relationships/tags" Target="../tags/tag15.xml"/><Relationship Id="rId5" Type="http://schemas.openxmlformats.org/officeDocument/2006/relationships/tags" Target="../tags/tag16.xml"/><Relationship Id="rId6" Type="http://schemas.openxmlformats.org/officeDocument/2006/relationships/tags" Target="../tags/tag17.xml"/><Relationship Id="rId7" Type="http://schemas.openxmlformats.org/officeDocument/2006/relationships/tags" Target="../tags/tag18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9.xml"/><Relationship Id="rId3" Type="http://schemas.openxmlformats.org/officeDocument/2006/relationships/tags" Target="../tags/tag20.xml"/><Relationship Id="rId4" Type="http://schemas.openxmlformats.org/officeDocument/2006/relationships/tags" Target="../tags/tag21.xml"/><Relationship Id="rId5" Type="http://schemas.openxmlformats.org/officeDocument/2006/relationships/tags" Target="../tags/tag22.xml"/><Relationship Id="rId6" Type="http://schemas.openxmlformats.org/officeDocument/2006/relationships/tags" Target="../tags/tag23.xml"/><Relationship Id="rId7" Type="http://schemas.openxmlformats.org/officeDocument/2006/relationships/tags" Target="../tags/tag24.xml"/><Relationship Id="rId8" Type="http://schemas.openxmlformats.org/officeDocument/2006/relationships/tags" Target="../tags/tag25.xml"/><Relationship Id="rId9" Type="http://schemas.openxmlformats.org/officeDocument/2006/relationships/tags" Target="../tags/tag26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27.xml"/><Relationship Id="rId3" Type="http://schemas.openxmlformats.org/officeDocument/2006/relationships/tags" Target="../tags/tag28.xml"/><Relationship Id="rId4" Type="http://schemas.openxmlformats.org/officeDocument/2006/relationships/tags" Target="../tags/tag29.xml"/><Relationship Id="rId5" Type="http://schemas.openxmlformats.org/officeDocument/2006/relationships/tags" Target="../tags/tag30.xml"/><Relationship Id="rId6" Type="http://schemas.openxmlformats.org/officeDocument/2006/relationships/tags" Target="../tags/tag31.xml"/><Relationship Id="rId7" Type="http://schemas.openxmlformats.org/officeDocument/2006/relationships/tags" Target="../tags/tag3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33.xml"/><Relationship Id="rId3" Type="http://schemas.openxmlformats.org/officeDocument/2006/relationships/tags" Target="../tags/tag34.xml"/><Relationship Id="rId4" Type="http://schemas.openxmlformats.org/officeDocument/2006/relationships/tags" Target="../tags/tag35.xml"/><Relationship Id="rId5" Type="http://schemas.openxmlformats.org/officeDocument/2006/relationships/tags" Target="../tags/tag36.xml"/><Relationship Id="rId6" Type="http://schemas.openxmlformats.org/officeDocument/2006/relationships/tags" Target="../tags/tag37.xml"/><Relationship Id="rId7" Type="http://schemas.openxmlformats.org/officeDocument/2006/relationships/tags" Target="../tags/tag38.xml"/><Relationship Id="rId8" Type="http://schemas.openxmlformats.org/officeDocument/2006/relationships/tags" Target="../tags/tag39.xml"/><Relationship Id="rId9" Type="http://schemas.openxmlformats.org/officeDocument/2006/relationships/tags" Target="../tags/tag40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41.xml"/><Relationship Id="rId3" Type="http://schemas.openxmlformats.org/officeDocument/2006/relationships/tags" Target="../tags/tag42.xml"/><Relationship Id="rId4" Type="http://schemas.openxmlformats.org/officeDocument/2006/relationships/tags" Target="../tags/tag43.xml"/><Relationship Id="rId5" Type="http://schemas.openxmlformats.org/officeDocument/2006/relationships/tags" Target="../tags/tag44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45.xml"/><Relationship Id="rId3" Type="http://schemas.openxmlformats.org/officeDocument/2006/relationships/tags" Target="../tags/tag46.xml"/><Relationship Id="rId4" Type="http://schemas.openxmlformats.org/officeDocument/2006/relationships/tags" Target="../tags/tag47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57.xml"/><Relationship Id="rId3" Type="http://schemas.openxmlformats.org/officeDocument/2006/relationships/tags" Target="../tags/tag58.xml"/><Relationship Id="rId4" Type="http://schemas.openxmlformats.org/officeDocument/2006/relationships/tags" Target="../tags/tag59.xml"/><Relationship Id="rId5" Type="http://schemas.openxmlformats.org/officeDocument/2006/relationships/tags" Target="../tags/tag60.xml"/><Relationship Id="rId6" Type="http://schemas.openxmlformats.org/officeDocument/2006/relationships/tags" Target="../tags/tag61.xml"/><Relationship Id="rId7" Type="http://schemas.openxmlformats.org/officeDocument/2006/relationships/tags" Target="../tags/tag62.xml"/><Relationship Id="rId8" Type="http://schemas.openxmlformats.org/officeDocument/2006/relationships/tags" Target="../tags/tag63.xml"/><Relationship Id="rId9" Type="http://schemas.openxmlformats.org/officeDocument/2006/relationships/tags" Target="../tags/tag6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1707 (Stroke)_#color-2217&amp;955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0909300" cy="5791200"/>
          </a:xfrm>
          <a:custGeom>
            <a:avLst/>
            <a:gdLst/>
            <a:ahLst/>
            <a:cxnLst/>
            <a:rect l="l" t="t" r="r" b="b"/>
            <a:pathLst>
              <a:path w="10909300" h="5791200">
                <a:moveTo>
                  <a:pt x="0" y="5765800"/>
                </a:moveTo>
                <a:lnTo>
                  <a:pt x="10883900" y="5765800"/>
                </a:lnTo>
                <a:lnTo>
                  <a:pt x="10883900" y="0"/>
                </a:lnTo>
                <a:lnTo>
                  <a:pt x="10909300" y="0"/>
                </a:lnTo>
                <a:lnTo>
                  <a:pt x="10909300" y="5791200"/>
                </a:lnTo>
                <a:lnTo>
                  <a:pt x="0" y="5791200"/>
                </a:lnTo>
                <a:lnTo>
                  <a:pt x="0" y="5765800"/>
                </a:lnTo>
              </a:path>
            </a:pathLst>
          </a:custGeom>
          <a:solidFill>
            <a:schemeClr val="accent2"/>
          </a:solidFill>
        </p:spPr>
      </p:sp>
      <p:sp>
        <p:nvSpPr>
          <p:cNvPr id="8" name="Rectangle 41706 (Stroke)_#color-2217&amp;9553"/>
          <p:cNvSpPr/>
          <p:nvPr userDrawn="1">
            <p:custDataLst>
              <p:tags r:id="rId3"/>
            </p:custDataLst>
          </p:nvPr>
        </p:nvSpPr>
        <p:spPr>
          <a:xfrm>
            <a:off x="8953500" y="4521200"/>
            <a:ext cx="3238500" cy="2336800"/>
          </a:xfrm>
          <a:custGeom>
            <a:avLst/>
            <a:gdLst/>
            <a:ahLst/>
            <a:cxnLst/>
            <a:rect l="l" t="t" r="r" b="b"/>
            <a:pathLst>
              <a:path w="3238500" h="2336800">
                <a:moveTo>
                  <a:pt x="3238500" y="0"/>
                </a:moveTo>
                <a:lnTo>
                  <a:pt x="0" y="0"/>
                </a:lnTo>
                <a:lnTo>
                  <a:pt x="0" y="2336800"/>
                </a:lnTo>
                <a:lnTo>
                  <a:pt x="25400" y="2336800"/>
                </a:lnTo>
                <a:lnTo>
                  <a:pt x="25400" y="25400"/>
                </a:lnTo>
                <a:lnTo>
                  <a:pt x="3238500" y="25400"/>
                </a:lnTo>
                <a:lnTo>
                  <a:pt x="3238500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4"/>
            </p:custDataLst>
          </p:nvPr>
        </p:nvSpPr>
        <p:spPr>
          <a:xfrm>
            <a:off x="1734331" y="369277"/>
            <a:ext cx="8860399" cy="3207972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7000">
                <a:solidFill>
                  <a:schemeClr val="accent1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单击编辑母版标题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8"/>
            </p:custDataLst>
          </p:nvPr>
        </p:nvSpPr>
        <p:spPr>
          <a:xfrm>
            <a:off x="1734331" y="3943799"/>
            <a:ext cx="7101937" cy="1468599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 lIns="0" tIns="0" rIns="0" bIns="0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525587" y="857250"/>
            <a:ext cx="10561637" cy="1503413"/>
          </a:xfrm>
        </p:spPr>
        <p:txBody>
          <a:bodyPr wrap="square" anchor="b">
            <a:normAutofit/>
          </a:bodyPr>
          <a:lstStyle>
            <a:lvl1pPr>
              <a:defRPr sz="5400">
                <a:solidFill>
                  <a:schemeClr val="accent1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Rectangle 41706 (Stroke)_#color-2217&amp;9559"/>
          <p:cNvSpPr/>
          <p:nvPr userDrawn="1">
            <p:custDataLst>
              <p:tags r:id="rId6"/>
            </p:custDataLst>
          </p:nvPr>
        </p:nvSpPr>
        <p:spPr>
          <a:xfrm>
            <a:off x="10896600" y="215900"/>
            <a:ext cx="1295400" cy="571500"/>
          </a:xfrm>
          <a:custGeom>
            <a:avLst/>
            <a:gdLst/>
            <a:ahLst/>
            <a:cxnLst/>
            <a:rect l="l" t="t" r="r" b="b"/>
            <a:pathLst>
              <a:path w="1295400" h="571500">
                <a:moveTo>
                  <a:pt x="1295400" y="0"/>
                </a:moveTo>
                <a:lnTo>
                  <a:pt x="0" y="0"/>
                </a:lnTo>
                <a:lnTo>
                  <a:pt x="0" y="571500"/>
                </a:lnTo>
                <a:lnTo>
                  <a:pt x="1295400" y="571500"/>
                </a:lnTo>
                <a:lnTo>
                  <a:pt x="1295400" y="546100"/>
                </a:lnTo>
                <a:lnTo>
                  <a:pt x="25400" y="546100"/>
                </a:lnTo>
                <a:lnTo>
                  <a:pt x="25400" y="25400"/>
                </a:lnTo>
                <a:lnTo>
                  <a:pt x="1295400" y="25400"/>
                </a:lnTo>
                <a:lnTo>
                  <a:pt x="1295400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5" name="Rectangle 41707 (Stroke)_#color-2217&amp;9562"/>
          <p:cNvSpPr/>
          <p:nvPr userDrawn="1">
            <p:custDataLst>
              <p:tags r:id="rId7"/>
            </p:custDataLst>
          </p:nvPr>
        </p:nvSpPr>
        <p:spPr>
          <a:xfrm>
            <a:off x="8445500" y="0"/>
            <a:ext cx="3251200" cy="508000"/>
          </a:xfrm>
          <a:custGeom>
            <a:avLst/>
            <a:gdLst/>
            <a:ahLst/>
            <a:cxnLst/>
            <a:rect l="l" t="t" r="r" b="b"/>
            <a:pathLst>
              <a:path w="3251200" h="508000">
                <a:moveTo>
                  <a:pt x="25400" y="0"/>
                </a:moveTo>
                <a:lnTo>
                  <a:pt x="25400" y="482600"/>
                </a:lnTo>
                <a:lnTo>
                  <a:pt x="3225800" y="482600"/>
                </a:lnTo>
                <a:lnTo>
                  <a:pt x="3225800" y="0"/>
                </a:lnTo>
                <a:lnTo>
                  <a:pt x="3251200" y="0"/>
                </a:lnTo>
                <a:lnTo>
                  <a:pt x="3251200" y="508000"/>
                </a:lnTo>
                <a:lnTo>
                  <a:pt x="0" y="508000"/>
                </a:lnTo>
                <a:lnTo>
                  <a:pt x="0" y="0"/>
                </a:lnTo>
                <a:lnTo>
                  <a:pt x="25400" y="0"/>
                </a:lnTo>
              </a:path>
            </a:pathLst>
          </a:custGeom>
          <a:solidFill>
            <a:schemeClr val="accent2"/>
          </a:solidFill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1696_#color-2179&amp;9254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9" name="Rectangle 41707 (Stroke)_#color-2217&amp;9565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0426700" cy="5537200"/>
          </a:xfrm>
          <a:custGeom>
            <a:avLst/>
            <a:gdLst/>
            <a:ahLst/>
            <a:cxnLst/>
            <a:rect l="l" t="t" r="r" b="b"/>
            <a:pathLst>
              <a:path w="10426700" h="5537200">
                <a:moveTo>
                  <a:pt x="0" y="5511800"/>
                </a:moveTo>
                <a:lnTo>
                  <a:pt x="10401300" y="5511800"/>
                </a:lnTo>
                <a:lnTo>
                  <a:pt x="10401300" y="0"/>
                </a:lnTo>
                <a:lnTo>
                  <a:pt x="10426700" y="0"/>
                </a:lnTo>
                <a:lnTo>
                  <a:pt x="10426700" y="5537200"/>
                </a:lnTo>
                <a:lnTo>
                  <a:pt x="0" y="5537200"/>
                </a:lnTo>
                <a:lnTo>
                  <a:pt x="0" y="5511800"/>
                </a:lnTo>
              </a:path>
            </a:pathLst>
          </a:custGeom>
          <a:solidFill>
            <a:schemeClr val="accent1">
              <a:lumMod val="20000"/>
              <a:lumOff val="80000"/>
              <a:alpha val="30000"/>
            </a:schemeClr>
          </a:solidFill>
        </p:spPr>
      </p:sp>
      <p:sp>
        <p:nvSpPr>
          <p:cNvPr id="10" name="Rectangle 41706 (Stroke)_#color-2217&amp;9568"/>
          <p:cNvSpPr/>
          <p:nvPr userDrawn="1">
            <p:custDataLst>
              <p:tags r:id="rId4"/>
            </p:custDataLst>
          </p:nvPr>
        </p:nvSpPr>
        <p:spPr>
          <a:xfrm>
            <a:off x="8572500" y="4267200"/>
            <a:ext cx="3619500" cy="2590800"/>
          </a:xfrm>
          <a:custGeom>
            <a:avLst/>
            <a:gdLst/>
            <a:ahLst/>
            <a:cxnLst/>
            <a:rect l="l" t="t" r="r" b="b"/>
            <a:pathLst>
              <a:path w="3619500" h="2590800">
                <a:moveTo>
                  <a:pt x="3619500" y="0"/>
                </a:moveTo>
                <a:lnTo>
                  <a:pt x="0" y="0"/>
                </a:lnTo>
                <a:lnTo>
                  <a:pt x="0" y="2590800"/>
                </a:lnTo>
                <a:lnTo>
                  <a:pt x="25400" y="2590800"/>
                </a:lnTo>
                <a:lnTo>
                  <a:pt x="25400" y="25400"/>
                </a:lnTo>
                <a:lnTo>
                  <a:pt x="3619500" y="25400"/>
                </a:lnTo>
                <a:lnTo>
                  <a:pt x="3619500" y="0"/>
                </a:lnTo>
              </a:path>
            </a:pathLst>
          </a:custGeom>
          <a:solidFill>
            <a:schemeClr val="accent2"/>
          </a:solidFill>
        </p:spPr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452950" y="3023453"/>
            <a:ext cx="6878250" cy="2374047"/>
          </a:xfrm>
        </p:spPr>
        <p:txBody>
          <a:bodyPr wrap="square" anchor="t">
            <a:normAutofit/>
          </a:bodyPr>
          <a:lstStyle>
            <a:lvl1pPr algn="l">
              <a:defRPr sz="4600">
                <a:solidFill>
                  <a:schemeClr val="lt1">
                    <a:lumMod val="100000"/>
                  </a:schemeClr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单击编辑母版标题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1452950" y="304800"/>
            <a:ext cx="8643550" cy="2277882"/>
          </a:xfrm>
        </p:spPr>
        <p:txBody>
          <a:bodyPr wrap="square" anchor="b">
            <a:normAutofit/>
          </a:bodyPr>
          <a:lstStyle>
            <a:lvl1pPr marL="0" indent="0" algn="l">
              <a:buNone/>
              <a:defRPr sz="4900" b="1">
                <a:solidFill>
                  <a:schemeClr val="accent1">
                    <a:lumMod val="20000"/>
                    <a:lumOff val="80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 lIns="0" tIns="0" rIns="0" bIns="0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wrap="square" lIns="0" tIns="0" rIns="0" bIns="0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800" b="0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1696_#color-2179&amp;926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8" name="Rectangle 41707 (Stroke)_#color-2217&amp;9583"/>
          <p:cNvSpPr/>
          <p:nvPr userDrawn="1">
            <p:custDataLst>
              <p:tags r:id="rId3"/>
            </p:custDataLst>
          </p:nvPr>
        </p:nvSpPr>
        <p:spPr>
          <a:xfrm>
            <a:off x="2514600" y="0"/>
            <a:ext cx="9677400" cy="5791200"/>
          </a:xfrm>
          <a:custGeom>
            <a:avLst/>
            <a:gdLst/>
            <a:ahLst/>
            <a:cxnLst/>
            <a:rect l="l" t="t" r="r" b="b"/>
            <a:pathLst>
              <a:path w="9677400" h="5791200">
                <a:moveTo>
                  <a:pt x="25400" y="0"/>
                </a:moveTo>
                <a:lnTo>
                  <a:pt x="0" y="0"/>
                </a:lnTo>
                <a:lnTo>
                  <a:pt x="0" y="5791200"/>
                </a:lnTo>
                <a:lnTo>
                  <a:pt x="9677400" y="5791200"/>
                </a:lnTo>
                <a:lnTo>
                  <a:pt x="9677400" y="5765800"/>
                </a:lnTo>
                <a:lnTo>
                  <a:pt x="25400" y="5765800"/>
                </a:lnTo>
                <a:lnTo>
                  <a:pt x="25400" y="0"/>
                </a:lnTo>
              </a:path>
            </a:pathLst>
          </a:custGeom>
          <a:solidFill>
            <a:schemeClr val="accent1">
              <a:lumMod val="20000"/>
              <a:lumOff val="80000"/>
              <a:alpha val="30000"/>
            </a:schemeClr>
          </a:solidFill>
        </p:spPr>
      </p:sp>
      <p:sp>
        <p:nvSpPr>
          <p:cNvPr id="9" name="Rectangle 41706 (Stroke)_#color-2217&amp;9586"/>
          <p:cNvSpPr/>
          <p:nvPr userDrawn="1">
            <p:custDataLst>
              <p:tags r:id="rId4"/>
            </p:custDataLst>
          </p:nvPr>
        </p:nvSpPr>
        <p:spPr>
          <a:xfrm>
            <a:off x="0" y="4521200"/>
            <a:ext cx="4368800" cy="2336800"/>
          </a:xfrm>
          <a:custGeom>
            <a:avLst/>
            <a:gdLst/>
            <a:ahLst/>
            <a:cxnLst/>
            <a:rect l="l" t="t" r="r" b="b"/>
            <a:pathLst>
              <a:path w="4368800" h="2336800">
                <a:moveTo>
                  <a:pt x="4368800" y="2336800"/>
                </a:moveTo>
                <a:lnTo>
                  <a:pt x="4368800" y="0"/>
                </a:lnTo>
                <a:lnTo>
                  <a:pt x="0" y="0"/>
                </a:lnTo>
                <a:lnTo>
                  <a:pt x="0" y="25400"/>
                </a:lnTo>
                <a:lnTo>
                  <a:pt x="4343400" y="25400"/>
                </a:lnTo>
                <a:lnTo>
                  <a:pt x="4343400" y="2336800"/>
                </a:lnTo>
                <a:lnTo>
                  <a:pt x="4368800" y="2336800"/>
                </a:lnTo>
              </a:path>
            </a:pathLst>
          </a:custGeom>
          <a:solidFill>
            <a:schemeClr val="accent2"/>
          </a:solidFill>
        </p:spPr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4635500" y="406400"/>
            <a:ext cx="7302500" cy="276815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7000">
                <a:solidFill>
                  <a:schemeClr val="lt1">
                    <a:lumMod val="100000"/>
                  </a:schemeClr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编辑母版标题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4635500" y="3576600"/>
            <a:ext cx="7302500" cy="2062200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>
                    <a:lumMod val="20000"/>
                    <a:lumOff val="80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ags" Target="../tags/tag65.xml"/><Relationship Id="rId13" Type="http://schemas.openxmlformats.org/officeDocument/2006/relationships/tags" Target="../tags/tag66.xml"/><Relationship Id="rId14" Type="http://schemas.openxmlformats.org/officeDocument/2006/relationships/tags" Target="../tags/tag67.xml"/><Relationship Id="rId15" Type="http://schemas.openxmlformats.org/officeDocument/2006/relationships/tags" Target="../tags/tag68.xml"/><Relationship Id="rId16" Type="http://schemas.openxmlformats.org/officeDocument/2006/relationships/tags" Target="../tags/tag69.xml"/><Relationship Id="rId17" Type="http://schemas.openxmlformats.org/officeDocument/2006/relationships/tags" Target="../tags/tag70.xml"/><Relationship Id="rId18" Type="http://schemas.openxmlformats.org/officeDocument/2006/relationships/tags" Target="../tags/tag71.xml"/><Relationship Id="rId19" Type="http://schemas.openxmlformats.org/officeDocument/2006/relationships/tags" Target="../tags/tag72.xml"/><Relationship Id="rId20" Type="http://schemas.openxmlformats.org/officeDocument/2006/relationships/tags" Target="../tags/tag73.xml"/><Relationship Id="rId21" Type="http://schemas.openxmlformats.org/officeDocument/2006/relationships/tags" Target="../tags/tag74.xml"/><Relationship Id="rId2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41710 (Stroke)_#color-2217&amp;9571"/>
          <p:cNvSpPr/>
          <p:nvPr userDrawn="1">
            <p:custDataLst>
              <p:tags r:id="rId12"/>
            </p:custDataLst>
          </p:nvPr>
        </p:nvSpPr>
        <p:spPr>
          <a:xfrm>
            <a:off x="0" y="6337300"/>
            <a:ext cx="609600" cy="368300"/>
          </a:xfrm>
          <a:custGeom>
            <a:avLst/>
            <a:gdLst/>
            <a:ahLst/>
            <a:cxnLst/>
            <a:rect l="l" t="t" r="r" b="b"/>
            <a:pathLst>
              <a:path w="609600" h="368300">
                <a:moveTo>
                  <a:pt x="0" y="368300"/>
                </a:moveTo>
                <a:lnTo>
                  <a:pt x="609600" y="368300"/>
                </a:lnTo>
                <a:lnTo>
                  <a:pt x="609600" y="0"/>
                </a:lnTo>
                <a:lnTo>
                  <a:pt x="0" y="0"/>
                </a:lnTo>
                <a:lnTo>
                  <a:pt x="0" y="25400"/>
                </a:lnTo>
                <a:lnTo>
                  <a:pt x="584200" y="25400"/>
                </a:lnTo>
                <a:lnTo>
                  <a:pt x="584200" y="342900"/>
                </a:lnTo>
                <a:lnTo>
                  <a:pt x="0" y="342900"/>
                </a:lnTo>
                <a:lnTo>
                  <a:pt x="0" y="368300"/>
                </a:lnTo>
              </a:path>
            </a:pathLst>
          </a:custGeom>
          <a:solidFill>
            <a:schemeClr val="accent1">
              <a:alpha val="50000"/>
            </a:schemeClr>
          </a:solidFill>
        </p:spPr>
      </p:sp>
      <p:sp>
        <p:nvSpPr>
          <p:cNvPr id="11" name="Rectangle 41708 (Stroke)_#color-2217&amp;9574"/>
          <p:cNvSpPr/>
          <p:nvPr userDrawn="1">
            <p:custDataLst>
              <p:tags r:id="rId13"/>
            </p:custDataLst>
          </p:nvPr>
        </p:nvSpPr>
        <p:spPr>
          <a:xfrm>
            <a:off x="215900" y="6489700"/>
            <a:ext cx="1422400" cy="368300"/>
          </a:xfrm>
          <a:custGeom>
            <a:avLst/>
            <a:gdLst/>
            <a:ahLst/>
            <a:cxnLst/>
            <a:rect l="l" t="t" r="r" b="b"/>
            <a:pathLst>
              <a:path w="1422400" h="368300">
                <a:moveTo>
                  <a:pt x="1422400" y="368300"/>
                </a:moveTo>
                <a:lnTo>
                  <a:pt x="1422400" y="0"/>
                </a:lnTo>
                <a:lnTo>
                  <a:pt x="0" y="0"/>
                </a:lnTo>
                <a:lnTo>
                  <a:pt x="0" y="368300"/>
                </a:lnTo>
                <a:lnTo>
                  <a:pt x="25400" y="368300"/>
                </a:lnTo>
                <a:lnTo>
                  <a:pt x="25400" y="25400"/>
                </a:lnTo>
                <a:lnTo>
                  <a:pt x="1397000" y="25400"/>
                </a:lnTo>
                <a:lnTo>
                  <a:pt x="1397000" y="368300"/>
                </a:lnTo>
                <a:lnTo>
                  <a:pt x="1422400" y="368300"/>
                </a:lnTo>
              </a:path>
            </a:pathLst>
          </a:custGeom>
          <a:solidFill>
            <a:schemeClr val="accent2">
              <a:alpha val="50000"/>
            </a:schemeClr>
          </a:solidFill>
        </p:spPr>
      </p:sp>
      <p:sp>
        <p:nvSpPr>
          <p:cNvPr id="12" name="Rectangle 41706 (Stroke)_#color-2217&amp;9577"/>
          <p:cNvSpPr/>
          <p:nvPr userDrawn="1">
            <p:custDataLst>
              <p:tags r:id="rId14"/>
            </p:custDataLst>
          </p:nvPr>
        </p:nvSpPr>
        <p:spPr>
          <a:xfrm>
            <a:off x="10337800" y="0"/>
            <a:ext cx="1663700" cy="381000"/>
          </a:xfrm>
          <a:custGeom>
            <a:avLst/>
            <a:gdLst/>
            <a:ahLst/>
            <a:cxnLst/>
            <a:rect l="l" t="t" r="r" b="b"/>
            <a:pathLst>
              <a:path w="1663700" h="381000">
                <a:moveTo>
                  <a:pt x="25400" y="0"/>
                </a:moveTo>
                <a:lnTo>
                  <a:pt x="25400" y="355600"/>
                </a:lnTo>
                <a:lnTo>
                  <a:pt x="1638300" y="355600"/>
                </a:lnTo>
                <a:lnTo>
                  <a:pt x="1638300" y="0"/>
                </a:lnTo>
                <a:lnTo>
                  <a:pt x="1663700" y="0"/>
                </a:lnTo>
                <a:lnTo>
                  <a:pt x="1663700" y="381000"/>
                </a:lnTo>
                <a:lnTo>
                  <a:pt x="0" y="381000"/>
                </a:lnTo>
                <a:lnTo>
                  <a:pt x="0" y="0"/>
                </a:lnTo>
                <a:lnTo>
                  <a:pt x="25400" y="0"/>
                </a:lnTo>
              </a:path>
            </a:pathLst>
          </a:custGeom>
          <a:solidFill>
            <a:schemeClr val="accent2">
              <a:alpha val="50000"/>
            </a:schemeClr>
          </a:solidFill>
        </p:spPr>
      </p:sp>
      <p:sp>
        <p:nvSpPr>
          <p:cNvPr id="13" name="Rectangle 41710 (Stroke)_#color-2217&amp;9571"/>
          <p:cNvSpPr/>
          <p:nvPr userDrawn="1">
            <p:custDataLst>
              <p:tags r:id="rId15"/>
            </p:custDataLst>
          </p:nvPr>
        </p:nvSpPr>
        <p:spPr>
          <a:xfrm flipH="1">
            <a:off x="11582400" y="203200"/>
            <a:ext cx="609600" cy="368300"/>
          </a:xfrm>
          <a:custGeom>
            <a:avLst/>
            <a:gdLst/>
            <a:ahLst/>
            <a:cxnLst/>
            <a:rect l="l" t="t" r="r" b="b"/>
            <a:pathLst>
              <a:path w="609600" h="368300">
                <a:moveTo>
                  <a:pt x="0" y="368300"/>
                </a:moveTo>
                <a:lnTo>
                  <a:pt x="609600" y="368300"/>
                </a:lnTo>
                <a:lnTo>
                  <a:pt x="609600" y="0"/>
                </a:lnTo>
                <a:lnTo>
                  <a:pt x="0" y="0"/>
                </a:lnTo>
                <a:lnTo>
                  <a:pt x="0" y="25400"/>
                </a:lnTo>
                <a:lnTo>
                  <a:pt x="584200" y="25400"/>
                </a:lnTo>
                <a:lnTo>
                  <a:pt x="584200" y="342900"/>
                </a:lnTo>
                <a:lnTo>
                  <a:pt x="0" y="342900"/>
                </a:lnTo>
                <a:lnTo>
                  <a:pt x="0" y="368300"/>
                </a:lnTo>
              </a:path>
            </a:pathLst>
          </a:custGeom>
          <a:solidFill>
            <a:schemeClr val="accent1">
              <a:alpha val="50000"/>
            </a:schemeClr>
          </a:solidFill>
        </p:spPr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7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8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9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0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2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n-ea"/>
          <a:ea typeface="+mn-ea"/>
          <a:cs typeface="+mn-ea"/>
          <a:sym typeface="+mn-ea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ea"/>
          <a:ea typeface="+mn-ea"/>
          <a:cs typeface="+mn-ea"/>
          <a:sym typeface="+mn-ea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74519"/>
            <a:ext cx="10802112" cy="2103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0" b="1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[课题]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4297680"/>
            <a:ext cx="10802112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400" b="0">
                <a:solidFill>
                  <a:srgbClr val="81777A"/>
                </a:solidFill>
                <a:latin typeface="华文中宋"/>
                <a:ea typeface="华文中宋"/>
                <a:cs typeface="华文中宋"/>
              </a:rPr>
              <a:t>[年级] · [教材版本] · [课时]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356616"/>
            <a:ext cx="10802112" cy="7223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3200" b="1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从问题进入</a:t>
            </a:r>
          </a:p>
        </p:txBody>
      </p:sp>
      <p:sp>
        <p:nvSpPr>
          <p:cNvPr id="3" name="body-block"/>
          <p:cNvSpPr txBox="1"/>
          <p:nvPr/>
        </p:nvSpPr>
        <p:spPr>
          <a:xfrm>
            <a:off x="694944" y="3261360"/>
            <a:ext cx="10802112" cy="8303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4800"/>
              </a:lnSpc>
              <a:spcAft>
                <a:spcPts val="1071"/>
              </a:spcAft>
            </a:pPr>
            <a:r>
              <a:rPr sz="30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[具体问题、条件与需要解释的现象]</a:t>
            </a:r>
          </a:p>
        </p:txBody>
      </p:sp>
      <p:sp>
        <p:nvSpPr>
          <p:cNvPr id="4" name="question-block"/>
          <p:cNvSpPr txBox="1"/>
          <p:nvPr/>
        </p:nvSpPr>
        <p:spPr>
          <a:xfrm>
            <a:off x="694944" y="5833872"/>
            <a:ext cx="10802112" cy="4297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ts val="3383"/>
              </a:lnSpc>
            </a:pPr>
            <a:r>
              <a:rPr sz="2400" b="0">
                <a:solidFill>
                  <a:srgbClr val="76515A"/>
                </a:solidFill>
                <a:latin typeface="华文中宋"/>
                <a:ea typeface="华文中宋"/>
                <a:cs typeface="华文中宋"/>
              </a:rPr>
              <a:t>[学生可进入的主问]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356616"/>
            <a:ext cx="10802112" cy="7223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3200" b="1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先用已有知识</a:t>
            </a:r>
          </a:p>
        </p:txBody>
      </p:sp>
      <p:sp>
        <p:nvSpPr>
          <p:cNvPr id="3" name="body-block"/>
          <p:cNvSpPr txBox="1"/>
          <p:nvPr/>
        </p:nvSpPr>
        <p:spPr>
          <a:xfrm>
            <a:off x="694944" y="1298448"/>
            <a:ext cx="10802112" cy="6677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640"/>
              </a:lnSpc>
              <a:spcAft>
                <a:spcPts val="1000"/>
              </a:spcAft>
            </a:pPr>
            <a:r>
              <a:rPr sz="28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[旧知检查题]</a:t>
            </a:r>
          </a:p>
        </p:txBody>
      </p:sp>
      <p:sp>
        <p:nvSpPr>
          <p:cNvPr id="4" name="question-block"/>
          <p:cNvSpPr txBox="1"/>
          <p:nvPr/>
        </p:nvSpPr>
        <p:spPr>
          <a:xfrm>
            <a:off x="694944" y="5833872"/>
            <a:ext cx="10802112" cy="4297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ts val="3383"/>
              </a:lnSpc>
            </a:pPr>
            <a:r>
              <a:rPr sz="2400" b="0">
                <a:solidFill>
                  <a:srgbClr val="76515A"/>
                </a:solidFill>
                <a:latin typeface="华文中宋"/>
                <a:ea typeface="华文中宋"/>
                <a:cs typeface="华文中宋"/>
              </a:rPr>
              <a:t>[要求写出什么或解释什么]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356616"/>
            <a:ext cx="10802112" cy="7223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3200" b="1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遇到什么困难</a:t>
            </a:r>
          </a:p>
        </p:txBody>
      </p:sp>
      <p:sp>
        <p:nvSpPr>
          <p:cNvPr id="3" name="body-block"/>
          <p:cNvSpPr txBox="1"/>
          <p:nvPr/>
        </p:nvSpPr>
        <p:spPr>
          <a:xfrm>
            <a:off x="694944" y="2791460"/>
            <a:ext cx="10802112" cy="200964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4800"/>
              </a:lnSpc>
              <a:spcAft>
                <a:spcPts val="2600"/>
              </a:spcAft>
            </a:pPr>
            <a:r>
              <a:rPr sz="30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[已有方法得到的结果]</a:t>
            </a:r>
          </a:p>
          <a:p>
            <a:pPr>
              <a:lnSpc>
                <a:spcPts val="4800"/>
              </a:lnSpc>
              <a:spcAft>
                <a:spcPts val="2600"/>
              </a:spcAft>
            </a:pPr>
            <a:r>
              <a:rPr sz="30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[尚不能解释的具体问题]</a:t>
            </a:r>
          </a:p>
        </p:txBody>
      </p:sp>
      <p:sp>
        <p:nvSpPr>
          <p:cNvPr id="4" name="question-block"/>
          <p:cNvSpPr txBox="1"/>
          <p:nvPr/>
        </p:nvSpPr>
        <p:spPr>
          <a:xfrm>
            <a:off x="694944" y="5833872"/>
            <a:ext cx="10802112" cy="4297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ts val="3383"/>
              </a:lnSpc>
            </a:pPr>
            <a:r>
              <a:rPr sz="2400" b="0">
                <a:solidFill>
                  <a:srgbClr val="76515A"/>
                </a:solidFill>
                <a:latin typeface="华文中宋"/>
                <a:ea typeface="华文中宋"/>
                <a:cs typeface="华文中宋"/>
              </a:rPr>
              <a:t>[为什么原方法不足]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356616"/>
            <a:ext cx="10802112" cy="7223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3200" b="1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把关系表示出来</a:t>
            </a:r>
          </a:p>
        </p:txBody>
      </p:sp>
      <p:sp>
        <p:nvSpPr>
          <p:cNvPr id="3" name="body-block"/>
          <p:cNvSpPr txBox="1"/>
          <p:nvPr/>
        </p:nvSpPr>
        <p:spPr>
          <a:xfrm>
            <a:off x="694944" y="2791460"/>
            <a:ext cx="10802112" cy="200964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4800"/>
              </a:lnSpc>
              <a:spcAft>
                <a:spcPts val="2600"/>
              </a:spcAft>
            </a:pPr>
            <a:r>
              <a:rPr sz="30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[探究的对象或操作]</a:t>
            </a:r>
          </a:p>
          <a:p>
            <a:pPr>
              <a:lnSpc>
                <a:spcPts val="4800"/>
              </a:lnSpc>
              <a:spcAft>
                <a:spcPts val="2600"/>
              </a:spcAft>
            </a:pPr>
            <a:r>
              <a:rPr sz="30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[表、图或式的具体信息]</a:t>
            </a:r>
          </a:p>
        </p:txBody>
      </p:sp>
      <p:sp>
        <p:nvSpPr>
          <p:cNvPr id="4" name="question-block"/>
          <p:cNvSpPr txBox="1"/>
          <p:nvPr/>
        </p:nvSpPr>
        <p:spPr>
          <a:xfrm>
            <a:off x="694944" y="5833872"/>
            <a:ext cx="10802112" cy="4297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ts val="3383"/>
              </a:lnSpc>
            </a:pPr>
            <a:r>
              <a:rPr sz="2400" b="0">
                <a:solidFill>
                  <a:srgbClr val="76515A"/>
                </a:solidFill>
                <a:latin typeface="华文中宋"/>
                <a:ea typeface="华文中宋"/>
                <a:cs typeface="华文中宋"/>
              </a:rPr>
              <a:t>[待比较或待归纳的关系]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356616"/>
            <a:ext cx="10802112" cy="7223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3200" b="1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形成新的认识</a:t>
            </a:r>
          </a:p>
        </p:txBody>
      </p:sp>
      <p:sp>
        <p:nvSpPr>
          <p:cNvPr id="3" name="body-block"/>
          <p:cNvSpPr txBox="1"/>
          <p:nvPr/>
        </p:nvSpPr>
        <p:spPr>
          <a:xfrm>
            <a:off x="694944" y="2649728"/>
            <a:ext cx="10802112" cy="200964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4800"/>
              </a:lnSpc>
              <a:spcAft>
                <a:spcPts val="2600"/>
              </a:spcAft>
            </a:pPr>
            <a:r>
              <a:rPr sz="30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[探究中已得到的关键关系]</a:t>
            </a:r>
          </a:p>
          <a:p>
            <a:pPr>
              <a:lnSpc>
                <a:spcPts val="4800"/>
              </a:lnSpc>
              <a:spcAft>
                <a:spcPts val="2600"/>
              </a:spcAft>
            </a:pPr>
            <a:r>
              <a:rPr sz="30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[从关系到结论的必要推理]</a:t>
            </a:r>
          </a:p>
        </p:txBody>
      </p:sp>
      <p:sp>
        <p:nvSpPr>
          <p:cNvPr id="4" name="emph-block"/>
          <p:cNvSpPr/>
          <p:nvPr/>
        </p:nvSpPr>
        <p:spPr>
          <a:xfrm>
            <a:off x="694944" y="5550407"/>
            <a:ext cx="10802112" cy="713232"/>
          </a:xfrm>
          <a:prstGeom prst="rect">
            <a:avLst/>
          </a:prstGeom>
          <a:solidFill>
            <a:srgbClr val="F8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lnSpc>
                <a:spcPts val="4464"/>
              </a:lnSpc>
            </a:pPr>
            <a:r>
              <a:rPr sz="3200" b="1">
                <a:solidFill>
                  <a:srgbClr val="9B3447"/>
                </a:solidFill>
                <a:latin typeface="华文中宋"/>
                <a:ea typeface="华文中宋"/>
                <a:cs typeface="华文中宋"/>
              </a:rPr>
              <a:t>[准确结论及适用条件]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356616"/>
            <a:ext cx="10802112" cy="7223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3200" b="1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辨别适用条件</a:t>
            </a:r>
          </a:p>
        </p:txBody>
      </p:sp>
      <p:sp>
        <p:nvSpPr>
          <p:cNvPr id="3" name="body-block"/>
          <p:cNvSpPr txBox="1"/>
          <p:nvPr/>
        </p:nvSpPr>
        <p:spPr>
          <a:xfrm>
            <a:off x="694944" y="3193324"/>
            <a:ext cx="5172456" cy="8303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4800"/>
              </a:lnSpc>
              <a:spcAft>
                <a:spcPts val="1071"/>
              </a:spcAft>
            </a:pPr>
            <a:r>
              <a:rPr sz="30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[符合条件的例]</a:t>
            </a:r>
          </a:p>
        </p:txBody>
      </p:sp>
      <p:sp>
        <p:nvSpPr>
          <p:cNvPr id="4" name="body-block"/>
          <p:cNvSpPr txBox="1"/>
          <p:nvPr/>
        </p:nvSpPr>
        <p:spPr>
          <a:xfrm>
            <a:off x="6324600" y="3193324"/>
            <a:ext cx="5172456" cy="8303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4800"/>
              </a:lnSpc>
              <a:spcAft>
                <a:spcPts val="1071"/>
              </a:spcAft>
            </a:pPr>
            <a:r>
              <a:rPr sz="30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[不符合条件的非例]</a:t>
            </a:r>
          </a:p>
        </p:txBody>
      </p:sp>
      <p:sp>
        <p:nvSpPr>
          <p:cNvPr id="5" name="question-block"/>
          <p:cNvSpPr txBox="1"/>
          <p:nvPr/>
        </p:nvSpPr>
        <p:spPr>
          <a:xfrm>
            <a:off x="694944" y="5833872"/>
            <a:ext cx="10802112" cy="4297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ts val="3383"/>
              </a:lnSpc>
            </a:pPr>
            <a:r>
              <a:rPr sz="2400" b="0">
                <a:solidFill>
                  <a:srgbClr val="76515A"/>
                </a:solidFill>
                <a:latin typeface="华文中宋"/>
                <a:ea typeface="华文中宋"/>
                <a:cs typeface="华文中宋"/>
              </a:rPr>
              <a:t>[二者的关键区别]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356616"/>
            <a:ext cx="10802112" cy="7223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3200" b="1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选择方法</a:t>
            </a:r>
          </a:p>
        </p:txBody>
      </p:sp>
      <p:sp>
        <p:nvSpPr>
          <p:cNvPr id="3" name="body-block"/>
          <p:cNvSpPr txBox="1"/>
          <p:nvPr/>
        </p:nvSpPr>
        <p:spPr>
          <a:xfrm>
            <a:off x="694944" y="1298448"/>
            <a:ext cx="10802112" cy="6677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640"/>
              </a:lnSpc>
              <a:spcAft>
                <a:spcPts val="1000"/>
              </a:spcAft>
            </a:pPr>
            <a:r>
              <a:rPr sz="28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[典型例题完整题干]</a:t>
            </a:r>
          </a:p>
        </p:txBody>
      </p:sp>
      <p:sp>
        <p:nvSpPr>
          <p:cNvPr id="4" name="question-block"/>
          <p:cNvSpPr txBox="1"/>
          <p:nvPr/>
        </p:nvSpPr>
        <p:spPr>
          <a:xfrm>
            <a:off x="694944" y="5833872"/>
            <a:ext cx="10802112" cy="4297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ts val="3383"/>
              </a:lnSpc>
            </a:pPr>
            <a:r>
              <a:rPr sz="2400" b="0">
                <a:solidFill>
                  <a:srgbClr val="76515A"/>
                </a:solidFill>
                <a:latin typeface="华文中宋"/>
                <a:ea typeface="华文中宋"/>
                <a:cs typeface="华文中宋"/>
              </a:rPr>
              <a:t>[为什么考虑本节方法]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356616"/>
            <a:ext cx="10802112" cy="7223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3200" b="1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写出关键推理</a:t>
            </a:r>
          </a:p>
        </p:txBody>
      </p:sp>
      <p:sp>
        <p:nvSpPr>
          <p:cNvPr id="3" name="body-block"/>
          <p:cNvSpPr txBox="1"/>
          <p:nvPr/>
        </p:nvSpPr>
        <p:spPr>
          <a:xfrm>
            <a:off x="694944" y="2179827"/>
            <a:ext cx="10802112" cy="2987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4800"/>
              </a:lnSpc>
              <a:spcAft>
                <a:spcPts val="2600"/>
              </a:spcAft>
            </a:pPr>
            <a:r>
              <a:rPr sz="30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[承接题目和条件]</a:t>
            </a:r>
          </a:p>
          <a:p>
            <a:pPr>
              <a:lnSpc>
                <a:spcPts val="4800"/>
              </a:lnSpc>
              <a:spcAft>
                <a:spcPts val="2600"/>
              </a:spcAft>
            </a:pPr>
            <a:r>
              <a:rPr sz="30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[关键步骤一及依据]</a:t>
            </a:r>
          </a:p>
          <a:p>
            <a:pPr>
              <a:lnSpc>
                <a:spcPts val="4800"/>
              </a:lnSpc>
              <a:spcAft>
                <a:spcPts val="2600"/>
              </a:spcAft>
            </a:pPr>
            <a:r>
              <a:rPr sz="30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[关键步骤二及依据]</a:t>
            </a:r>
          </a:p>
        </p:txBody>
      </p:sp>
      <p:sp>
        <p:nvSpPr>
          <p:cNvPr id="4" name="emph-block"/>
          <p:cNvSpPr/>
          <p:nvPr/>
        </p:nvSpPr>
        <p:spPr>
          <a:xfrm>
            <a:off x="694944" y="5550407"/>
            <a:ext cx="10802112" cy="713232"/>
          </a:xfrm>
          <a:prstGeom prst="rect">
            <a:avLst/>
          </a:prstGeom>
          <a:solidFill>
            <a:srgbClr val="F8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lnSpc>
                <a:spcPts val="4464"/>
              </a:lnSpc>
            </a:pPr>
            <a:r>
              <a:rPr sz="3200" b="1">
                <a:solidFill>
                  <a:srgbClr val="9B3447"/>
                </a:solidFill>
                <a:latin typeface="华文中宋"/>
                <a:ea typeface="华文中宋"/>
                <a:cs typeface="华文中宋"/>
              </a:rPr>
              <a:t>[结果及必要检验]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356616"/>
            <a:ext cx="10802112" cy="7223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3200" b="1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基础练习</a:t>
            </a:r>
          </a:p>
        </p:txBody>
      </p:sp>
      <p:sp>
        <p:nvSpPr>
          <p:cNvPr id="3" name="body-block"/>
          <p:cNvSpPr txBox="1"/>
          <p:nvPr/>
        </p:nvSpPr>
        <p:spPr>
          <a:xfrm>
            <a:off x="694944" y="1298448"/>
            <a:ext cx="10802112" cy="6677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640"/>
              </a:lnSpc>
              <a:spcAft>
                <a:spcPts val="1000"/>
              </a:spcAft>
            </a:pPr>
            <a:r>
              <a:rPr sz="28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[基础题完整题干]</a:t>
            </a:r>
          </a:p>
        </p:txBody>
      </p:sp>
      <p:sp>
        <p:nvSpPr>
          <p:cNvPr id="4" name="question-block"/>
          <p:cNvSpPr txBox="1"/>
          <p:nvPr/>
        </p:nvSpPr>
        <p:spPr>
          <a:xfrm>
            <a:off x="694944" y="5833872"/>
            <a:ext cx="10802112" cy="4297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ts val="3383"/>
              </a:lnSpc>
            </a:pPr>
            <a:r>
              <a:rPr sz="2400" b="0">
                <a:solidFill>
                  <a:srgbClr val="76515A"/>
                </a:solidFill>
                <a:latin typeface="华文中宋"/>
                <a:ea typeface="华文中宋"/>
                <a:cs typeface="华文中宋"/>
              </a:rPr>
              <a:t>[独立完成的具体任务]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356616"/>
            <a:ext cx="10802112" cy="7223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3200" b="1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条件改变之后</a:t>
            </a:r>
          </a:p>
        </p:txBody>
      </p:sp>
      <p:sp>
        <p:nvSpPr>
          <p:cNvPr id="3" name="body-block"/>
          <p:cNvSpPr txBox="1"/>
          <p:nvPr/>
        </p:nvSpPr>
        <p:spPr>
          <a:xfrm>
            <a:off x="694944" y="1298448"/>
            <a:ext cx="10802112" cy="6677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640"/>
              </a:lnSpc>
              <a:spcAft>
                <a:spcPts val="1000"/>
              </a:spcAft>
            </a:pPr>
            <a:r>
              <a:rPr sz="28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[只改变一个关键条件的变式题]</a:t>
            </a:r>
          </a:p>
        </p:txBody>
      </p:sp>
      <p:sp>
        <p:nvSpPr>
          <p:cNvPr id="4" name="question-block"/>
          <p:cNvSpPr txBox="1"/>
          <p:nvPr/>
        </p:nvSpPr>
        <p:spPr>
          <a:xfrm>
            <a:off x="694944" y="5833872"/>
            <a:ext cx="10802112" cy="4297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ts val="3383"/>
              </a:lnSpc>
            </a:pPr>
            <a:r>
              <a:rPr sz="2400" b="0">
                <a:solidFill>
                  <a:srgbClr val="76515A"/>
                </a:solidFill>
                <a:latin typeface="华文中宋"/>
                <a:ea typeface="华文中宋"/>
                <a:cs typeface="华文中宋"/>
              </a:rPr>
              <a:t>[方法是否仍适用，为什么]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356616"/>
            <a:ext cx="10802112" cy="7223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3200" b="1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独立检验</a:t>
            </a:r>
          </a:p>
        </p:txBody>
      </p:sp>
      <p:sp>
        <p:nvSpPr>
          <p:cNvPr id="3" name="body-block"/>
          <p:cNvSpPr txBox="1"/>
          <p:nvPr/>
        </p:nvSpPr>
        <p:spPr>
          <a:xfrm>
            <a:off x="694944" y="1298448"/>
            <a:ext cx="10802112" cy="6677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3640"/>
              </a:lnSpc>
              <a:spcAft>
                <a:spcPts val="1000"/>
              </a:spcAft>
            </a:pPr>
            <a:r>
              <a:rPr sz="28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[针对本课目标的短检测]</a:t>
            </a:r>
          </a:p>
        </p:txBody>
      </p:sp>
      <p:sp>
        <p:nvSpPr>
          <p:cNvPr id="4" name="question-block"/>
          <p:cNvSpPr txBox="1"/>
          <p:nvPr/>
        </p:nvSpPr>
        <p:spPr>
          <a:xfrm>
            <a:off x="694944" y="5833872"/>
            <a:ext cx="10802112" cy="4297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ts val="3383"/>
              </a:lnSpc>
            </a:pPr>
            <a:r>
              <a:rPr sz="2400" b="0">
                <a:solidFill>
                  <a:srgbClr val="76515A"/>
                </a:solidFill>
                <a:latin typeface="华文中宋"/>
                <a:ea typeface="华文中宋"/>
                <a:cs typeface="华文中宋"/>
              </a:rPr>
              <a:t>[独立完成，不提前展示答案]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356616"/>
            <a:ext cx="10802112" cy="7223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3200" b="1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今天形成的方法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584" y="1572768"/>
            <a:ext cx="9704832" cy="46908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ts val="4160"/>
              </a:lnSpc>
              <a:spcAft>
                <a:spcPts val="1600"/>
              </a:spcAft>
            </a:pPr>
            <a:r>
              <a:rPr sz="32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[解决的核心问题]</a:t>
            </a:r>
          </a:p>
          <a:p>
            <a:pPr algn="ctr">
              <a:lnSpc>
                <a:spcPts val="4160"/>
              </a:lnSpc>
              <a:spcAft>
                <a:spcPts val="1600"/>
              </a:spcAft>
            </a:pPr>
            <a:r>
              <a:rPr sz="32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[方法的依据与适用条件]</a:t>
            </a:r>
          </a:p>
          <a:p>
            <a:pPr algn="ctr">
              <a:lnSpc>
                <a:spcPts val="4160"/>
              </a:lnSpc>
              <a:spcAft>
                <a:spcPts val="1600"/>
              </a:spcAft>
            </a:pPr>
            <a:r>
              <a:rPr sz="32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[最容易忽略的边界]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356616"/>
            <a:ext cx="10802112" cy="7223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3200" b="1">
                <a:solidFill>
                  <a:srgbClr val="29252A"/>
                </a:solidFill>
                <a:latin typeface="微软雅黑"/>
                <a:ea typeface="微软雅黑"/>
                <a:cs typeface="微软雅黑"/>
              </a:rPr>
              <a:t>课后继续检验</a:t>
            </a:r>
          </a:p>
        </p:txBody>
      </p:sp>
      <p:sp>
        <p:nvSpPr>
          <p:cNvPr id="3" name="body-block"/>
          <p:cNvSpPr txBox="1"/>
          <p:nvPr/>
        </p:nvSpPr>
        <p:spPr>
          <a:xfrm>
            <a:off x="694944" y="2536444"/>
            <a:ext cx="10802112" cy="2987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ts val="4800"/>
              </a:lnSpc>
              <a:spcAft>
                <a:spcPts val="2600"/>
              </a:spcAft>
            </a:pPr>
            <a:r>
              <a:rPr sz="30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[明确作业题或可核实的来源]</a:t>
            </a:r>
          </a:p>
          <a:p>
            <a:pPr>
              <a:lnSpc>
                <a:spcPts val="4800"/>
              </a:lnSpc>
              <a:spcAft>
                <a:spcPts val="2600"/>
              </a:spcAft>
            </a:pPr>
            <a:r>
              <a:rPr sz="30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[需要解释的关键依据]</a:t>
            </a:r>
          </a:p>
          <a:p>
            <a:pPr>
              <a:lnSpc>
                <a:spcPts val="4800"/>
              </a:lnSpc>
              <a:spcAft>
                <a:spcPts val="2600"/>
              </a:spcAft>
            </a:pPr>
            <a:r>
              <a:rPr sz="3000" b="0">
                <a:solidFill>
                  <a:srgbClr val="39363A"/>
                </a:solidFill>
                <a:latin typeface="华文中宋"/>
                <a:ea typeface="华文中宋"/>
                <a:cs typeface="华文中宋"/>
              </a:rPr>
              <a:t>[可选拓展任务]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UNIT_TEXT_LAYER_COUNT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TEXT_LAYER_COUNT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23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UNIT_TEXT_LAYER_COUNT" val="1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  <p:tag name="KSO_WM_UNIT_TEXT_LAYER_COUNT" val="1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  <p:tag name="KSO_WM_UNIT_TEXT_LAYER_COUNT" val="1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  <p:tag name="KSO_WM_UNIT_TEXT_LAYER_COUNT" val="1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  <p:tag name="KSO_WM_UNIT_TEXT_LAYER_COUNT" val="1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5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5"/>
  <p:tag name="KSO_WM_UNIT_TEXT_LAYER_COUNT" val="1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6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4"/>
  <p:tag name="KSO_WM_UNIT_LAYERLEVEL" val="1"/>
  <p:tag name="KSO_WM_TAG_VERSION" val="3.0"/>
  <p:tag name="KSO_WM_UNIT_TYPE" val="i"/>
  <p:tag name="KSO_WM_UNIT_INDEX" val="4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3311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UNIT_TEXT_LAYER_COUNT" val="1"/>
  <p:tag name="KSO_WM_TEMPLATE_CATEGORY" val="custom"/>
  <p:tag name="KSO_WM_TEMPLATE_INDEX" val="20233311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311"/>
  <p:tag name="KSO_WM_TEMPLATE_THUMBS_INDEX" val="1、9"/>
</p:tagLst>
</file>

<file path=ppt/tags/tag101.xml><?xml version="1.0" encoding="utf-8"?>
<p:tagLst xmlns:p="http://schemas.openxmlformats.org/presentationml/2006/main">
  <p:tag name="commondata" val="eyJoZGlkIjoiMThjMGUwNmZjMTU5NjA3NzRmMjdhODVlMDFjYzYxMDEifQ=="/>
  <p:tag name="resource_record_key" val="{&quot;19&quot;:[20344759],&quot;65&quot;:[20233311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105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F40B8"/>
      </a:accent1>
      <a:accent2>
        <a:srgbClr val="EB6A28"/>
      </a:accent2>
      <a:accent3>
        <a:srgbClr val="2876EB"/>
      </a:accent3>
      <a:accent4>
        <a:srgbClr val="2FAED6"/>
      </a:accent4>
      <a:accent5>
        <a:srgbClr val="2899EB"/>
      </a:accent5>
      <a:accent6>
        <a:srgbClr val="9163DE"/>
      </a:accent6>
      <a:hlink>
        <a:srgbClr val="658BD5"/>
      </a:hlink>
      <a:folHlink>
        <a:srgbClr val="A16AA5"/>
      </a:folHlink>
    </a:clrScheme>
    <a:fontScheme name="自定义 46">
      <a:majorFont>
        <a:latin typeface="MiSans Demibold"/>
        <a:ea typeface="微软雅黑"/>
        <a:cs typeface=""/>
      </a:majorFont>
      <a:minorFont>
        <a:latin typeface="MiSans Demibold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1158</Words>
  <Application>WPS 演示</Application>
  <PresentationFormat>宽屏</PresentationFormat>
  <Paragraphs>126</Paragraphs>
  <Slides>13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9" baseType="lpstr">
      <vt:lpstr>Arial</vt:lpstr>
      <vt:lpstr>宋体</vt:lpstr>
      <vt:lpstr>Wingdings</vt:lpstr>
      <vt:lpstr>Cambria Math</vt:lpstr>
      <vt:lpstr>MS Mincho</vt:lpstr>
      <vt:lpstr>Yu Gothic UI</vt:lpstr>
      <vt:lpstr>华文中宋</vt:lpstr>
      <vt:lpstr>微软雅黑</vt:lpstr>
      <vt:lpstr>Arial Unicode MS</vt:lpstr>
      <vt:lpstr>MiSans Demibold</vt:lpstr>
      <vt:lpstr>Segoe Print</vt:lpstr>
      <vt:lpstr>Calibri</vt:lpstr>
      <vt:lpstr>WPS</vt:lpstr>
      <vt:lpstr>1_Office 主题​​</vt:lpstr>
      <vt:lpstr>Equation.KSEE3</vt:lpstr>
      <vt:lpstr>Equation.KSEE3</vt:lpstr>
      <vt:lpstr>导数的概念及其意义</vt:lpstr>
      <vt:lpstr>温故知新</vt:lpstr>
      <vt:lpstr>两种速度</vt:lpstr>
      <vt:lpstr>以抛物线                  为例</vt:lpstr>
      <vt:lpstr>定量看</vt:lpstr>
      <vt:lpstr>引入无穷小量与极限</vt:lpstr>
      <vt:lpstr>导数的概念</vt:lpstr>
      <vt:lpstr>导数的意义</vt:lpstr>
      <vt:lpstr>实践探究</vt:lpstr>
      <vt:lpstr>课堂小结</vt:lpstr>
      <vt:lpstr>作业布置</vt:lpstr>
      <vt:lpstr>教学设计阐述</vt:lpstr>
      <vt:lpstr>教学重难点及解决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[课题] · 新授课</dc:title>
  <dc:creator>张耀中</dc:creator>
  <cp:lastModifiedBy>张耀中</cp:lastModifiedBy>
  <cp:revision>32</cp:revision>
  <dcterms:created xsi:type="dcterms:W3CDTF">2023-08-09T12:44:00Z</dcterms:created>
  <dcterms:modified xsi:type="dcterms:W3CDTF">2026-03-06T05:21:21Z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0E85073815854EF0A955AC7BE247D992_13</vt:lpwstr>
  </property>
  <property fmtid="{D5CDD505-2E9C-101B-9397-08002B2CF9AE}" pid="3" name="KSOProductBuildVer">
    <vt:lpwstr>2052-12.1.0.25222</vt:lpwstr>
  </property>
</Properties>
</file>