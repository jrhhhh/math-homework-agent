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本文件展示视觉模板。内容是合成示例，换课题时保留视觉结构并重新设计教学。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推导页：沿着同一阅读轴组织式子；追问零因子性质，而非直接公布全部结果。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对照页：两支是并列关系，使用平行版面；图像元素是图片，文字和版式框架可编辑。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练习页：上方题目区，下方书写区；答案不提前上屏。解集{0,2π/3,π,4π/3}。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结论页：深色背景和大字形成节奏转换，只承载需要带走的核心认识。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观察页：图作为主体，主问在底部；图中弧度标签对应π/3、5π/3。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原生文字流程页：四步的次序由连接关系表达，可逐个编辑文字与形状。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本页展示讲授备注/设计阐述的视觉语言；日常课堂可省略，模板不是实际教学效果证据。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kTeal.Cover">
    <p:bg>
      <p:bgPr>
        <a:solidFill>
          <a:srgbClr val="123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7863840" y="0"/>
            <a:ext cx="4328159" cy="6858000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heme.surface"/>
          <p:cNvSpPr/>
          <p:nvPr/>
        </p:nvSpPr>
        <p:spPr>
          <a:xfrm>
            <a:off x="8266175" y="1874519"/>
            <a:ext cx="3291840" cy="3291840"/>
          </a:xfrm>
          <a:prstGeom prst="ellipse">
            <a:avLst/>
          </a:prstGeom>
          <a:noFill/>
          <a:ln w="15240">
            <a:solidFill>
              <a:srgbClr val="DF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heme.rule"/>
          <p:cNvCxnSpPr/>
          <p:nvPr/>
        </p:nvCxnSpPr>
        <p:spPr>
          <a:xfrm>
            <a:off x="8092440" y="3520440"/>
            <a:ext cx="3657600" cy="0"/>
          </a:xfrm>
          <a:prstGeom prst="line">
            <a:avLst/>
          </a:prstGeom>
          <a:ln w="15240">
            <a:solidFill>
              <a:srgbClr val="DFE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theme.rule"/>
          <p:cNvCxnSpPr/>
          <p:nvPr/>
        </p:nvCxnSpPr>
        <p:spPr>
          <a:xfrm>
            <a:off x="9912096" y="1691640"/>
            <a:ext cx="0" cy="3657600"/>
          </a:xfrm>
          <a:prstGeom prst="line">
            <a:avLst/>
          </a:prstGeom>
          <a:ln w="15240">
            <a:solidFill>
              <a:srgbClr val="DFE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heme.rule"/>
          <p:cNvCxnSpPr/>
          <p:nvPr/>
        </p:nvCxnSpPr>
        <p:spPr>
          <a:xfrm flipV="1">
            <a:off x="9912096" y="2523744"/>
            <a:ext cx="1307592" cy="99669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heme.surface"/>
          <p:cNvSpPr/>
          <p:nvPr/>
        </p:nvSpPr>
        <p:spPr>
          <a:xfrm>
            <a:off x="11164824" y="246888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heme.surface"/>
          <p:cNvSpPr/>
          <p:nvPr/>
        </p:nvSpPr>
        <p:spPr>
          <a:xfrm>
            <a:off x="777240" y="1371600"/>
            <a:ext cx="100584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InkTeal.Explore"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CB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InkTeal.Compare"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CB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54480"/>
            <a:ext cx="5163311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heme.surface"/>
          <p:cNvSpPr/>
          <p:nvPr/>
        </p:nvSpPr>
        <p:spPr>
          <a:xfrm>
            <a:off x="6224015" y="1554480"/>
            <a:ext cx="5163311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heme.surface"/>
          <p:cNvSpPr/>
          <p:nvPr/>
        </p:nvSpPr>
        <p:spPr>
          <a:xfrm>
            <a:off x="804672" y="1554480"/>
            <a:ext cx="5163311" cy="54864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heme.surface"/>
          <p:cNvSpPr/>
          <p:nvPr/>
        </p:nvSpPr>
        <p:spPr>
          <a:xfrm>
            <a:off x="6224015" y="1554480"/>
            <a:ext cx="5163311" cy="54864"/>
          </a:xfrm>
          <a:prstGeom prst="rect">
            <a:avLst/>
          </a:prstGeom>
          <a:solidFill>
            <a:srgbClr val="93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kTeal.Takeaway">
    <p:bg>
      <p:bgPr>
        <a:solidFill>
          <a:srgbClr val="123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749808" y="1371600"/>
            <a:ext cx="54864" cy="4526280"/>
          </a:xfrm>
          <a:prstGeom prst="rect">
            <a:avLst/>
          </a:prstGeom>
          <a:solidFill>
            <a:srgbClr val="DF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1078992" y="5559552"/>
            <a:ext cx="10213848" cy="0"/>
          </a:xfrm>
          <a:prstGeom prst="line">
            <a:avLst/>
          </a:prstGeom>
          <a:ln w="15240">
            <a:solidFill>
              <a:srgbClr val="1C7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kTeal.Practice"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CB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72768"/>
            <a:ext cx="10515600" cy="2103120"/>
          </a:xfrm>
          <a:prstGeom prst="rect">
            <a:avLst/>
          </a:prstGeom>
          <a:solidFill>
            <a:srgbClr val="DF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heme.surface"/>
          <p:cNvSpPr/>
          <p:nvPr/>
        </p:nvSpPr>
        <p:spPr>
          <a:xfrm>
            <a:off x="804672" y="3877056"/>
            <a:ext cx="10515600" cy="2203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theme.rule"/>
          <p:cNvCxnSpPr/>
          <p:nvPr/>
        </p:nvCxnSpPr>
        <p:spPr>
          <a:xfrm>
            <a:off x="1078992" y="4416552"/>
            <a:ext cx="9966960" cy="0"/>
          </a:xfrm>
          <a:prstGeom prst="line">
            <a:avLst/>
          </a:prstGeom>
          <a:ln w="6350">
            <a:solidFill>
              <a:srgbClr val="CB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heme.rule"/>
          <p:cNvCxnSpPr/>
          <p:nvPr/>
        </p:nvCxnSpPr>
        <p:spPr>
          <a:xfrm>
            <a:off x="1078992" y="4956048"/>
            <a:ext cx="9966960" cy="0"/>
          </a:xfrm>
          <a:prstGeom prst="line">
            <a:avLst/>
          </a:prstGeom>
          <a:ln w="6350">
            <a:solidFill>
              <a:srgbClr val="CB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nkTeal.Visual"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CB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72768"/>
            <a:ext cx="1051560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InkTeal.Sequence"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CB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72768"/>
            <a:ext cx="1051560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InkTeal.Notes"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CB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0">
                <a:solidFill>
                  <a:srgbClr val="DFEBE6"/>
                </a:solidFill>
                <a:latin typeface="微软雅黑"/>
                <a:ea typeface="微软雅黑"/>
                <a:cs typeface="微软雅黑"/>
              </a:rPr>
              <a:t>高中数学 · 课堂研习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874519"/>
            <a:ext cx="662940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6750"/>
              </a:lnSpc>
              <a:spcAft>
                <a:spcPts val="900"/>
              </a:spcAft>
            </a:pPr>
            <a:r>
              <a:rPr sz="50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三角方程的完整解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572000"/>
            <a:ext cx="63550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970"/>
              </a:lnSpc>
              <a:spcAft>
                <a:spcPts val="900"/>
              </a:spcAft>
            </a:pPr>
            <a:r>
              <a:rPr sz="2200" b="0">
                <a:solidFill>
                  <a:srgbClr val="DFEBE6"/>
                </a:solidFill>
                <a:latin typeface="微软雅黑"/>
                <a:ea typeface="微软雅黑"/>
                <a:cs typeface="微软雅黑"/>
              </a:rPr>
              <a:t>高中数学 · 课堂视觉模板</a:t>
            </a:r>
          </a:p>
          <a:p>
            <a:pPr>
              <a:lnSpc>
                <a:spcPts val="2970"/>
              </a:lnSpc>
              <a:spcAft>
                <a:spcPts val="900"/>
              </a:spcAft>
            </a:pPr>
            <a:r>
              <a:rPr sz="2200" b="0">
                <a:solidFill>
                  <a:srgbClr val="DFEBE6"/>
                </a:solidFill>
                <a:latin typeface="微软雅黑"/>
                <a:ea typeface="微软雅黑"/>
                <a:cs typeface="微软雅黑"/>
              </a:rPr>
              <a:t>原生母版与版式 · 可编辑内容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探究与推理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193C3C"/>
                </a:solidFill>
                <a:latin typeface="华文中宋"/>
                <a:ea typeface="华文中宋"/>
                <a:cs typeface="华文中宋"/>
              </a:rPr>
              <a:t>先因式分解</a:t>
            </a:r>
          </a:p>
        </p:txBody>
      </p:sp>
      <p:sp>
        <p:nvSpPr>
          <p:cNvPr id="4" name="theme.surface"/>
          <p:cNvSpPr/>
          <p:nvPr/>
        </p:nvSpPr>
        <p:spPr>
          <a:xfrm>
            <a:off x="841248" y="2430018"/>
            <a:ext cx="41148" cy="2331720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30018"/>
            <a:ext cx="9692640" cy="2331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sin(2x)=sin x，0≤x&lt;2π。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二倍角展开：2sin x cos x−sin x=0。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提取公因式：sin x(2cos x−1)=0。</a:t>
            </a:r>
          </a:p>
        </p:txBody>
      </p:sp>
      <p:sp>
        <p:nvSpPr>
          <p:cNvPr id="6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DF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接下来要保留哪些分支？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对照与辨析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193C3C"/>
                </a:solidFill>
                <a:latin typeface="华文中宋"/>
                <a:ea typeface="华文中宋"/>
                <a:cs typeface="华文中宋"/>
              </a:rPr>
              <a:t>保留两个分支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810512"/>
            <a:ext cx="4614671" cy="1165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sin x=0。</a:t>
            </a:r>
          </a:p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区间内：x=0 或 π。</a:t>
            </a:r>
          </a:p>
        </p:txBody>
      </p:sp>
      <p:pic>
        <p:nvPicPr>
          <p:cNvPr id="5" name="Picture 4" descr="sine.png"/>
          <p:cNvPicPr>
            <a:picLocks noChangeAspect="1"/>
          </p:cNvPicPr>
          <p:nvPr/>
        </p:nvPicPr>
        <p:blipFill>
          <a:blip r:embed="rId2"/>
          <a:srcRect l="9720" t="8920" r="7120" b="7920"/>
          <a:stretch>
            <a:fillRect/>
          </a:stretch>
        </p:blipFill>
        <p:spPr>
          <a:xfrm>
            <a:off x="2445638" y="3467862"/>
            <a:ext cx="1881377" cy="18813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8335" y="1810512"/>
            <a:ext cx="4614671" cy="16116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cos x=1/2。</a:t>
            </a:r>
          </a:p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区间内：x=π/3 或 5π/3。</a:t>
            </a:r>
          </a:p>
        </p:txBody>
      </p:sp>
      <p:pic>
        <p:nvPicPr>
          <p:cNvPr id="7" name="Picture 6" descr="cosine.png"/>
          <p:cNvPicPr>
            <a:picLocks noChangeAspect="1"/>
          </p:cNvPicPr>
          <p:nvPr/>
        </p:nvPicPr>
        <p:blipFill>
          <a:blip r:embed="rId3"/>
          <a:srcRect l="9720" t="8920" r="7120" b="7920"/>
          <a:stretch>
            <a:fillRect/>
          </a:stretch>
        </p:blipFill>
        <p:spPr>
          <a:xfrm>
            <a:off x="7864982" y="3467862"/>
            <a:ext cx="1881377" cy="1881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问题与练习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193C3C"/>
                </a:solidFill>
                <a:latin typeface="华文中宋"/>
                <a:ea typeface="华文中宋"/>
                <a:cs typeface="华文中宋"/>
              </a:rPr>
              <a:t>独立练习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755648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5"/>
              </a:lnSpc>
              <a:spcAft>
                <a:spcPts val="900"/>
              </a:spcAft>
            </a:pPr>
            <a:r>
              <a:rPr sz="27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在 0≤x&lt;2π 内解 sin(2x)=−sin x。</a:t>
            </a:r>
          </a:p>
          <a:p>
            <a:pPr>
              <a:lnSpc>
                <a:spcPts val="3645"/>
              </a:lnSpc>
              <a:spcAft>
                <a:spcPts val="900"/>
              </a:spcAft>
            </a:pPr>
            <a:r>
              <a:rPr sz="27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写出分支、解集及每一步的依据。</a:t>
            </a:r>
          </a:p>
        </p:txBody>
      </p:sp>
      <p:sp>
        <p:nvSpPr>
          <p:cNvPr id="5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DF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哪一支保留，哪一支改变？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DFEBE6"/>
                </a:solidFill>
                <a:latin typeface="微软雅黑"/>
                <a:ea typeface="微软雅黑"/>
                <a:cs typeface="微软雅黑"/>
              </a:rP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完整性的依据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9761"/>
            <a:ext cx="9692640" cy="1885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050"/>
              </a:lnSpc>
              <a:spcAft>
                <a:spcPts val="900"/>
              </a:spcAft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变形等价，未删去任何可能的解。</a:t>
            </a:r>
          </a:p>
          <a:p>
            <a:pPr>
              <a:lnSpc>
                <a:spcPts val="4050"/>
              </a:lnSpc>
              <a:spcAft>
                <a:spcPts val="900"/>
              </a:spcAft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分支穷尽，各支在区间内列全。</a:t>
            </a:r>
          </a:p>
          <a:p>
            <a:pPr>
              <a:lnSpc>
                <a:spcPts val="4050"/>
              </a:lnSpc>
              <a:spcAft>
                <a:spcPts val="900"/>
              </a:spcAft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合并解集，检查端点与结果。</a:t>
            </a:r>
          </a:p>
        </p:txBody>
      </p:sp>
      <p:sp>
        <p:nvSpPr>
          <p:cNvPr id="5" name="theme.surface"/>
          <p:cNvSpPr/>
          <p:nvPr/>
        </p:nvSpPr>
        <p:spPr>
          <a:xfrm>
            <a:off x="1078992" y="5486400"/>
            <a:ext cx="9966960" cy="36576"/>
          </a:xfrm>
          <a:prstGeom prst="rect">
            <a:avLst/>
          </a:prstGeom>
          <a:solidFill>
            <a:srgbClr val="DF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96128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解成立与无漏解，需要分别说明。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观察与解释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193C3C"/>
                </a:solidFill>
                <a:latin typeface="华文中宋"/>
                <a:ea typeface="华文中宋"/>
                <a:cs typeface="华文中宋"/>
              </a:rPr>
              <a:t>用单位圆解释</a:t>
            </a:r>
          </a:p>
        </p:txBody>
      </p:sp>
      <p:pic>
        <p:nvPicPr>
          <p:cNvPr id="4" name="Picture 3" descr="cosine.png"/>
          <p:cNvPicPr>
            <a:picLocks noChangeAspect="1"/>
          </p:cNvPicPr>
          <p:nvPr/>
        </p:nvPicPr>
        <p:blipFill>
          <a:blip r:embed="rId2"/>
          <a:srcRect l="9720" t="8920" r="7120" b="7920"/>
          <a:stretch>
            <a:fillRect/>
          </a:stretch>
        </p:blipFill>
        <p:spPr>
          <a:xfrm>
            <a:off x="4237481" y="1737360"/>
            <a:ext cx="3717035" cy="3717035"/>
          </a:xfrm>
          <a:prstGeom prst="rect">
            <a:avLst/>
          </a:prstGeom>
        </p:spPr>
      </p:pic>
      <p:sp>
        <p:nvSpPr>
          <p:cNvPr id="5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DF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横坐标相同的两个点，分别对应哪个角？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过程与联系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193C3C"/>
                </a:solidFill>
                <a:latin typeface="华文中宋"/>
                <a:ea typeface="华文中宋"/>
                <a:cs typeface="华文中宋"/>
              </a:rPr>
              <a:t>解题的四个环节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267712"/>
            <a:ext cx="2251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heme.surface"/>
          <p:cNvSpPr/>
          <p:nvPr/>
        </p:nvSpPr>
        <p:spPr>
          <a:xfrm>
            <a:off x="1078992" y="2852928"/>
            <a:ext cx="2251710" cy="1261872"/>
          </a:xfrm>
          <a:prstGeom prst="rect">
            <a:avLst/>
          </a:prstGeom>
          <a:solidFill>
            <a:srgbClr val="DFEBE6"/>
          </a:solidFill>
          <a:ln w="15240">
            <a:solidFill>
              <a:srgbClr val="CB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7" y="3063240"/>
            <a:ext cx="19956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统一角</a:t>
            </a:r>
          </a:p>
        </p:txBody>
      </p:sp>
      <p:sp>
        <p:nvSpPr>
          <p:cNvPr id="7" name="theme.surface"/>
          <p:cNvSpPr/>
          <p:nvPr/>
        </p:nvSpPr>
        <p:spPr>
          <a:xfrm>
            <a:off x="3403854" y="3355848"/>
            <a:ext cx="164592" cy="228600"/>
          </a:xfrm>
          <a:prstGeom prst="chevron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0742" y="2267712"/>
            <a:ext cx="2251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theme.surface"/>
          <p:cNvSpPr/>
          <p:nvPr/>
        </p:nvSpPr>
        <p:spPr>
          <a:xfrm>
            <a:off x="3650742" y="2852928"/>
            <a:ext cx="2251710" cy="1261872"/>
          </a:xfrm>
          <a:prstGeom prst="rect">
            <a:avLst/>
          </a:prstGeom>
          <a:solidFill>
            <a:srgbClr val="DFEBE6"/>
          </a:solidFill>
          <a:ln w="15240">
            <a:solidFill>
              <a:srgbClr val="CB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8758" y="3063240"/>
            <a:ext cx="19956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移项分解</a:t>
            </a:r>
          </a:p>
        </p:txBody>
      </p:sp>
      <p:sp>
        <p:nvSpPr>
          <p:cNvPr id="11" name="theme.surface"/>
          <p:cNvSpPr/>
          <p:nvPr/>
        </p:nvSpPr>
        <p:spPr>
          <a:xfrm>
            <a:off x="5975604" y="3355848"/>
            <a:ext cx="164592" cy="228600"/>
          </a:xfrm>
          <a:prstGeom prst="chevron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2492" y="2267712"/>
            <a:ext cx="2251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heme.surface"/>
          <p:cNvSpPr/>
          <p:nvPr/>
        </p:nvSpPr>
        <p:spPr>
          <a:xfrm>
            <a:off x="6222492" y="2852928"/>
            <a:ext cx="2251710" cy="1261872"/>
          </a:xfrm>
          <a:prstGeom prst="rect">
            <a:avLst/>
          </a:prstGeom>
          <a:solidFill>
            <a:srgbClr val="DFEBE6"/>
          </a:solidFill>
          <a:ln w="15240">
            <a:solidFill>
              <a:srgbClr val="CB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508" y="3063240"/>
            <a:ext cx="19956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分支筛选</a:t>
            </a:r>
          </a:p>
        </p:txBody>
      </p:sp>
      <p:sp>
        <p:nvSpPr>
          <p:cNvPr id="15" name="theme.surface"/>
          <p:cNvSpPr/>
          <p:nvPr/>
        </p:nvSpPr>
        <p:spPr>
          <a:xfrm>
            <a:off x="8547354" y="3355848"/>
            <a:ext cx="164592" cy="228600"/>
          </a:xfrm>
          <a:prstGeom prst="chevron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4242" y="2267712"/>
            <a:ext cx="2251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heme.surface"/>
          <p:cNvSpPr/>
          <p:nvPr/>
        </p:nvSpPr>
        <p:spPr>
          <a:xfrm>
            <a:off x="8794242" y="2852928"/>
            <a:ext cx="2251710" cy="1261872"/>
          </a:xfrm>
          <a:prstGeom prst="rect">
            <a:avLst/>
          </a:prstGeom>
          <a:solidFill>
            <a:srgbClr val="DFEBE6"/>
          </a:solidFill>
          <a:ln w="15240">
            <a:solidFill>
              <a:srgbClr val="CB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2258" y="3063240"/>
            <a:ext cx="19956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检查完整性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1C7772"/>
                </a:solidFill>
                <a:latin typeface="微软雅黑"/>
                <a:ea typeface="微软雅黑"/>
                <a:cs typeface="微软雅黑"/>
              </a:rPr>
              <a:t>教学设计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193C3C"/>
                </a:solidFill>
                <a:latin typeface="华文中宋"/>
                <a:ea typeface="华文中宋"/>
                <a:cs typeface="华文中宋"/>
              </a:rPr>
              <a:t>教学设计</a:t>
            </a:r>
          </a:p>
        </p:txBody>
      </p:sp>
      <p:sp>
        <p:nvSpPr>
          <p:cNvPr id="4" name="theme.surface"/>
          <p:cNvSpPr/>
          <p:nvPr/>
        </p:nvSpPr>
        <p:spPr>
          <a:xfrm>
            <a:off x="841248" y="2686050"/>
            <a:ext cx="41148" cy="2446020"/>
          </a:xfrm>
          <a:prstGeom prst="rect">
            <a:avLst/>
          </a:prstGeom>
          <a:solidFill>
            <a:srgbClr val="1C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686050"/>
            <a:ext cx="9692640" cy="24460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目标：独立解方程，说明为什么无漏解。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证据：独立检测中的分支、区间与依据。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支架：重读条件 → 识别公因式 → 单位圆列解。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193C3C"/>
                </a:solidFill>
                <a:latin typeface="微软雅黑"/>
                <a:ea typeface="微软雅黑"/>
                <a:cs typeface="微软雅黑"/>
              </a:rPr>
              <a:t>后续：按实际检测表现安排反馈。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墨青研习">
  <a:themeElements>
    <a:clrScheme name="Office">
      <a:dk1>
        <a:srgbClr val="193C3C"/>
      </a:dk1>
      <a:lt1>
        <a:srgbClr val="FFFFFF"/>
      </a:lt1>
      <a:dk2>
        <a:srgbClr val="123E40"/>
      </a:dk2>
      <a:lt2>
        <a:srgbClr val="F2F6F4"/>
      </a:lt2>
      <a:accent1>
        <a:srgbClr val="1C7772"/>
      </a:accent1>
      <a:accent2>
        <a:srgbClr val="93603C"/>
      </a:accent2>
      <a:accent3>
        <a:srgbClr val="64807B"/>
      </a:accent3>
      <a:accent4>
        <a:srgbClr val="DFEBE6"/>
      </a:accent4>
      <a:accent5>
        <a:srgbClr val="CBDBD5"/>
      </a:accent5>
      <a:accent6>
        <a:srgbClr val="123E40"/>
      </a:accent6>
      <a:hlink>
        <a:srgbClr val="1C7772"/>
      </a:hlink>
      <a:folHlink>
        <a:srgbClr val="93603C"/>
      </a:folHlink>
    </a:clrScheme>
    <a:fontScheme name="Office">
      <a:majorFont>
        <a:latin typeface="华文中宋"/>
        <a:ea typeface="华文中宋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数学课堂 · 视觉主题样册</dc:title>
  <dc:subject/>
  <dc:creator/>
  <cp:keywords>math-lesson-theme:ink-teal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