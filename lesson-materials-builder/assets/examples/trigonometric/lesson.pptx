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1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7"/>
    <p:sldId id="266" r:id="rId6"/>
    <p:sldId id="267" r:id="rId5"/>
    <p:sldId id="268" r:id="rId4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tags" Target="tags/tag101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课时预算：43分钟教学活动 + 2分钟机动；封面不另计时。</a:t>
            </a:r>
          </a:p>
          <a:p>
            <a:r>
              <a:t>预期回应与判断依据：合成课例，不使用实际班级诊断。两题解集、端点与零因子分支另行数学核验。</a:t>
            </a:r>
          </a:p>
          <a:p>
            <a:r>
              <a:t>追问：不在封面预讲结论。</a:t>
            </a:r>
          </a:p>
          <a:p>
            <a:r>
              <a:t>分层支架：学生已学二倍角公式和单位圆是本次设计假设；用旧知检测确认。</a:t>
            </a:r>
          </a:p>
          <a:p>
            <a:r>
              <a:t>板书：课题。</a:t>
            </a:r>
          </a:p>
          <a:p>
            <a:r>
              <a:t>收束与转场：进入本节需要独立完成的任务。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时间：1分钟。</a:t>
            </a:r>
          </a:p>
          <a:p>
            <a:r>
              <a:t>预期回应与判断依据：学生能区分“解成立”和“没有漏解”；本页不要求证明。</a:t>
            </a:r>
          </a:p>
          <a:p>
            <a:r>
              <a:t>追问：你会用什么方法检查一个候选解？</a:t>
            </a:r>
          </a:p>
          <a:p>
            <a:r>
              <a:t>分层支架：先问代入原式能检查什么；暂不直接给完整性答案。</a:t>
            </a:r>
          </a:p>
          <a:p>
            <a:r>
              <a:t>板书：成立：代入；完整：待研究。</a:t>
            </a:r>
          </a:p>
          <a:p>
            <a:r>
              <a:t>收束与转场：用旧知识检查进入本题的基础。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预期回应与判断依据：①2sin x cos x；②0、π；π/3、5π/3。基础检索而非新授。</a:t>
            </a:r>
          </a:p>
          <a:p>
            <a:r>
              <a:t>追问：第四象限的角如何写在给定区间内？</a:t>
            </a:r>
          </a:p>
          <a:p>
            <a:r>
              <a:t>分层支架：先提示单位圆横纵坐标；仍困难则标出π/3的对称位置。</a:t>
            </a:r>
          </a:p>
          <a:p>
            <a:r>
              <a:t>板书：二倍角公式；单位圆角。</a:t>
            </a:r>
          </a:p>
          <a:p>
            <a:r>
              <a:t>收束与转场：快速核对，为后续代数讨论准备。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时间：1分钟。</a:t>
            </a:r>
          </a:p>
          <a:p>
            <a:r>
              <a:t>预期回应与判断依据：纵坐标0对应横轴两端；横坐标1/2对应两点。</a:t>
            </a:r>
          </a:p>
          <a:p>
            <a:r>
              <a:t>追问：2π为什么不列入？</a:t>
            </a:r>
          </a:p>
          <a:p>
            <a:r>
              <a:t>分层支架：将0≤x&lt;2π写在板书；指出2π与0终边相同但取值不同。</a:t>
            </a:r>
          </a:p>
          <a:p>
            <a:r>
              <a:t>板书：0取到、2π不取。</a:t>
            </a:r>
          </a:p>
          <a:p>
            <a:r>
              <a:t>收束与转场：进入带有具体错误步骤的问题。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预期回应与判断依据：同除要求sin x≠0，原题未保证。不能仅凭答案正确的两个值认定完整。</a:t>
            </a:r>
          </a:p>
          <a:p>
            <a:r>
              <a:t>追问：能否找一个原式的解，使这个除法无法进行？</a:t>
            </a:r>
          </a:p>
          <a:p>
            <a:r>
              <a:t>分层支架：先重读除式；再问sin x可能为0吗；最后提示x=0。</a:t>
            </a:r>
          </a:p>
          <a:p>
            <a:r>
              <a:t>板书：除法成立条件：sin x≠0。</a:t>
            </a:r>
          </a:p>
          <a:p>
            <a:r>
              <a:t>收束与转场：让学生用一个边界值检验风险。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预期回应与判断依据：公式本身成立；省略了除式为零这一类。</a:t>
            </a:r>
          </a:p>
          <a:p>
            <a:r>
              <a:t>追问：若坚持用除法，怎样补齐讨论？</a:t>
            </a:r>
          </a:p>
          <a:p>
            <a:r>
              <a:t>分层支架：提示先讨论sin x=0，再讨论非零。</a:t>
            </a:r>
          </a:p>
          <a:p>
            <a:r>
              <a:t>板书：sin x=0；sin x≠0。</a:t>
            </a:r>
          </a:p>
          <a:p>
            <a:r>
              <a:t>收束与转场：比较分类除法与直接因式分解。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时间：3分钟。</a:t>
            </a:r>
          </a:p>
          <a:p>
            <a:r>
              <a:t>预期回应与判断依据：两条均可行；因式分解不先排除零因子。</a:t>
            </a:r>
          </a:p>
          <a:p>
            <a:r>
              <a:t>追问：乘积等于零，是“且”还是“或”？</a:t>
            </a:r>
          </a:p>
          <a:p>
            <a:r>
              <a:t>分层支架：用数的例子0×3=0检验“两个因子都为0”的说法。</a:t>
            </a:r>
          </a:p>
          <a:p>
            <a:r>
              <a:t>板书：ab=0 ↔ a=0或b=0（实数）。</a:t>
            </a:r>
          </a:p>
          <a:p>
            <a:r>
              <a:t>收束与转场：选因式分解路径完成原题。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预期回应与判断依据：公式恒等、移项、提取公因式均等价；得到两个零因子分支。</a:t>
            </a:r>
          </a:p>
          <a:p>
            <a:r>
              <a:t>追问：提取sin x是否等于除以sin x？</a:t>
            </a:r>
          </a:p>
          <a:p>
            <a:r>
              <a:t>分层支架：问等式展开能否还原，有无额外非零条件。</a:t>
            </a:r>
          </a:p>
          <a:p>
            <a:r>
              <a:t>板书：保留原题区间；画出两因子。</a:t>
            </a:r>
          </a:p>
          <a:p>
            <a:r>
              <a:t>收束与转场：学生独立完成分支求解。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时间：4分钟。</a:t>
            </a:r>
          </a:p>
          <a:p>
            <a:r>
              <a:t>预期回应与判断依据：需要“或”连接、两分支结果、并集与区间检查，不只交四个数。</a:t>
            </a:r>
          </a:p>
          <a:p>
            <a:r>
              <a:t>追问：若只能求出一支，另一因子为零时得到什么？</a:t>
            </a:r>
          </a:p>
          <a:p>
            <a:r>
              <a:t>分层支架：一级：圈出两个因子；二级：写sin x=0或2cos x−1=0；三级：回到单位圆。</a:t>
            </a:r>
          </a:p>
          <a:p>
            <a:r>
              <a:t>板书：只保留原题与零积式，暂不揭答案。</a:t>
            </a:r>
          </a:p>
          <a:p>
            <a:r>
              <a:t>收束与转场：核对两个分支的数学意义。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预期回应与判断依据：学生能从单位圆指出两个点，并解释端点。</a:t>
            </a:r>
          </a:p>
          <a:p>
            <a:r>
              <a:t>追问：是否还要写−π或2π？</a:t>
            </a:r>
          </a:p>
          <a:p>
            <a:r>
              <a:t>分层支架：先指出区间，再让学生比较候选角的位置。</a:t>
            </a:r>
          </a:p>
          <a:p>
            <a:r>
              <a:t>板书：分支一：{0，π}。</a:t>
            </a:r>
          </a:p>
          <a:p>
            <a:r>
              <a:t>收束与转场：同样从横坐标解释另一支。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预期回应与判断依据：根据第一与第四象限得到两角，不能仅写主值π/3。</a:t>
            </a:r>
          </a:p>
          <a:p>
            <a:r>
              <a:t>追问：为什么不是π/3和2π/3？</a:t>
            </a:r>
          </a:p>
          <a:p>
            <a:r>
              <a:t>分层支架：比较两点横坐标正负，必要时回顾cos(π−α)=−cos α。</a:t>
            </a:r>
          </a:p>
          <a:p>
            <a:r>
              <a:t>板书：分支二：{π/3，5π/3}。</a:t>
            </a:r>
          </a:p>
          <a:p>
            <a:r>
              <a:t>收束与转场：合并并讨论检验和完整性。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预期回应与判断依据：区分有效性与穷尽性；所有变形等价且两个分支均解完。</a:t>
            </a:r>
          </a:p>
          <a:p>
            <a:r>
              <a:t>追问：若只代入一个解，能证明其它解也正确吗？</a:t>
            </a:r>
          </a:p>
          <a:p>
            <a:r>
              <a:t>分层支架：先让学生分别说回代检查的对象与等价变形覆盖的范围。</a:t>
            </a:r>
          </a:p>
          <a:p>
            <a:r>
              <a:t>板书：原式 ↔ 零积式 ↔ 分支一或分支二。</a:t>
            </a:r>
          </a:p>
          <a:p>
            <a:r>
              <a:t>收束与转场：用简短说理总结完整性。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预期回应与判断依据：学生能用三句话说明完整性，避免“代入成立所以无漏解”。</a:t>
            </a:r>
          </a:p>
          <a:p>
            <a:r>
              <a:t>追问：如果非等价变形引入增根，要补哪一步？</a:t>
            </a:r>
          </a:p>
          <a:p>
            <a:r>
              <a:t>分层支架：区分可能多解与可能少解，不扩展到超出课时的新知识。</a:t>
            </a:r>
          </a:p>
          <a:p>
            <a:r>
              <a:t>板书：等价、分支、区间。</a:t>
            </a:r>
          </a:p>
          <a:p>
            <a:r>
              <a:t>收束与转场：用基础练习检验是否能迁移步骤。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时间：3分钟。</a:t>
            </a:r>
          </a:p>
          <a:p>
            <a:r>
              <a:t>预期回应与判断依据：sin x(cos x−1)=0；sin x=0得0、π；cos x=1得0；并集{0、π}。</a:t>
            </a:r>
          </a:p>
          <a:p>
            <a:r>
              <a:t>追问：两支一定得到互不相同的解吗？</a:t>
            </a:r>
          </a:p>
          <a:p>
            <a:r>
              <a:t>分层支架：先提公因式；再提醒并集中的重复值只写一次。</a:t>
            </a:r>
          </a:p>
          <a:p>
            <a:r>
              <a:t>板书：学生独立；保留零积式。</a:t>
            </a:r>
          </a:p>
          <a:p>
            <a:r>
              <a:t>收束与转场：下一页针对重合分支反馈。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预期回应与判断依据：解集是集合，重复元素不重复计数；分支穷尽不要求互斥。</a:t>
            </a:r>
          </a:p>
          <a:p>
            <a:r>
              <a:t>追问：“或”能否包含两条件同时成立的情形？</a:t>
            </a:r>
          </a:p>
          <a:p>
            <a:r>
              <a:t>分层支架：用x=0同时满足sin x=0、cos x=1展示。</a:t>
            </a:r>
          </a:p>
          <a:p>
            <a:r>
              <a:t>板书：分支可重合；解集取并集。</a:t>
            </a:r>
          </a:p>
          <a:p>
            <a:r>
              <a:t>收束与转场：变式改变符号，看哪些结构保留。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时间：3分钟。</a:t>
            </a:r>
          </a:p>
          <a:p>
            <a:r>
              <a:t>预期回应与判断依据：sin x(2cos x+1)=0；sin x=0或cos x=−1/2；解集{0,2π/3,π,4π/3}。</a:t>
            </a:r>
          </a:p>
          <a:p>
            <a:r>
              <a:t>追问：cos为负时角在哪两个象限？</a:t>
            </a:r>
          </a:p>
          <a:p>
            <a:r>
              <a:t>分层支架：一级：先移项；二级：识别负横坐标；三级：从参考角π/3找第二、第三象限。</a:t>
            </a:r>
          </a:p>
          <a:p>
            <a:r>
              <a:t>板书：保留原题与移项方向。</a:t>
            </a:r>
          </a:p>
          <a:p>
            <a:r>
              <a:t>收束与转场：用解答页核对变与不变。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预期回应与判断依据：变式解集{0,2π/3,π,4π/3}；差别在另一因子的常数符号。</a:t>
            </a:r>
          </a:p>
          <a:p>
            <a:r>
              <a:t>追问：为什么sin x=0这一支没有变？</a:t>
            </a:r>
          </a:p>
          <a:p>
            <a:r>
              <a:t>分层支架：回看共同公因式sin x，不只对照最终数字。</a:t>
            </a:r>
          </a:p>
          <a:p>
            <a:r>
              <a:t>板书：零因子结构决定分支。</a:t>
            </a:r>
          </a:p>
          <a:p>
            <a:r>
              <a:t>收束与转场：再考察条件变化带来的筛选差别。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预期回应与判断依据：代数分支不变，0、π均因开端点排除，5π/3超范围；解集{π/3}。</a:t>
            </a:r>
          </a:p>
          <a:p>
            <a:r>
              <a:t>追问：能否先写原题结果，再按新区间筛选？</a:t>
            </a:r>
          </a:p>
          <a:p>
            <a:r>
              <a:t>分层支架：在数轴上圈出(0,π)，逐个判断四个候选值。</a:t>
            </a:r>
          </a:p>
          <a:p>
            <a:r>
              <a:t>板书：只改区间，分支结构不变。</a:t>
            </a:r>
          </a:p>
          <a:p>
            <a:r>
              <a:t>收束与转场：退出检测换成cos因子，检查独立选择方法。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时间：3分钟。</a:t>
            </a:r>
          </a:p>
          <a:p>
            <a:r>
              <a:t>预期回应与判断依据：cos x(2cos x−1)=0；cos x=0或1/2；解集{π/3,π/2,3π/2,5π/3}。判据：零积式、两分支、区间、结果各1点。</a:t>
            </a:r>
          </a:p>
          <a:p>
            <a:r>
              <a:t>追问：收卷后再问：如果同除cos x，会遗漏哪些解？</a:t>
            </a:r>
          </a:p>
          <a:p>
            <a:r>
              <a:t>分层支架：独立检测阶段不给提示；提交后漏分支者补cos x=0，角错误者回到单位圆。</a:t>
            </a:r>
          </a:p>
          <a:p>
            <a:r>
              <a:t>板书：检测先保留题目；答案在备注中。</a:t>
            </a:r>
          </a:p>
          <a:p>
            <a:r>
              <a:t>收束与转场：按实际答题表现安排反馈，不能预写已掌握。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时间：2分钟。</a:t>
            </a:r>
          </a:p>
          <a:p>
            <a:r>
              <a:t>预期回应与判断依据：先判断除式能否为零；能为零则分类，不把非零当默认条件。</a:t>
            </a:r>
          </a:p>
          <a:p>
            <a:r>
              <a:t>追问：今天哪道题说明分支可能重合？</a:t>
            </a:r>
          </a:p>
          <a:p>
            <a:r>
              <a:t>分层支架：回指练习一；让学生用具体例子解释。</a:t>
            </a:r>
          </a:p>
          <a:p>
            <a:r>
              <a:t>板书：统一形式 → 零积 → 分支 → 区间 → 检查。</a:t>
            </a:r>
          </a:p>
          <a:p>
            <a:r>
              <a:t>收束与转场：说明课后巩固的具体题目和自查要求。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时间：1分钟。</a:t>
            </a:r>
          </a:p>
          <a:p>
            <a:r>
              <a:t>预期回应与判断依据：必做sin x(cos x−1)=0，解集{0,π}；选做{-π,0}。作业为合成原创题，不冒用教材页码。</a:t>
            </a:r>
          </a:p>
          <a:p>
            <a:r>
              <a:t>追问：是否可以从sin x(cos x−1)=0直接看出分支可能重合？</a:t>
            </a:r>
          </a:p>
          <a:p>
            <a:r>
              <a:t>分层支架：答案保留备注；次课按实际作业结果确定是否追加条件检查练习。</a:t>
            </a:r>
          </a:p>
          <a:p>
            <a:r>
              <a:t>板书：作业要求保留分支过程，不只写答案。</a:t>
            </a:r>
          </a:p>
          <a:p>
            <a:r>
              <a:t>收束与转场：结束；退出检测结果决定后续。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tags" Target="../tags/tag4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707 (Stroke)_#color-2217&amp;955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909300" cy="5791200"/>
          </a:xfrm>
          <a:custGeom>
            <a:avLst/>
            <a:gdLst/>
            <a:ahLst/>
            <a:cxnLst/>
            <a:rect l="l" t="t" r="r" b="b"/>
            <a:pathLst>
              <a:path w="10909300" h="5791200">
                <a:moveTo>
                  <a:pt x="0" y="5765800"/>
                </a:moveTo>
                <a:lnTo>
                  <a:pt x="10883900" y="5765800"/>
                </a:lnTo>
                <a:lnTo>
                  <a:pt x="10883900" y="0"/>
                </a:lnTo>
                <a:lnTo>
                  <a:pt x="10909300" y="0"/>
                </a:lnTo>
                <a:lnTo>
                  <a:pt x="10909300" y="5791200"/>
                </a:lnTo>
                <a:lnTo>
                  <a:pt x="0" y="5791200"/>
                </a:lnTo>
                <a:lnTo>
                  <a:pt x="0" y="5765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41706 (Stroke)_#color-2217&amp;9553"/>
          <p:cNvSpPr/>
          <p:nvPr userDrawn="1">
            <p:custDataLst>
              <p:tags r:id="rId3"/>
            </p:custDataLst>
          </p:nvPr>
        </p:nvSpPr>
        <p:spPr>
          <a:xfrm>
            <a:off x="8953500" y="4521200"/>
            <a:ext cx="3238500" cy="2336800"/>
          </a:xfrm>
          <a:custGeom>
            <a:avLst/>
            <a:gdLst/>
            <a:ahLst/>
            <a:cxnLst/>
            <a:rect l="l" t="t" r="r" b="b"/>
            <a:pathLst>
              <a:path w="3238500" h="2336800">
                <a:moveTo>
                  <a:pt x="3238500" y="0"/>
                </a:moveTo>
                <a:lnTo>
                  <a:pt x="0" y="0"/>
                </a:lnTo>
                <a:lnTo>
                  <a:pt x="0" y="2336800"/>
                </a:lnTo>
                <a:lnTo>
                  <a:pt x="25400" y="2336800"/>
                </a:lnTo>
                <a:lnTo>
                  <a:pt x="25400" y="25400"/>
                </a:lnTo>
                <a:lnTo>
                  <a:pt x="3238500" y="25400"/>
                </a:lnTo>
                <a:lnTo>
                  <a:pt x="32385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734331" y="369277"/>
            <a:ext cx="8860399" cy="320797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734331" y="3943799"/>
            <a:ext cx="7101937" cy="1468599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5587" y="857250"/>
            <a:ext cx="10561637" cy="1503413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41706 (Stroke)_#color-2217&amp;9559"/>
          <p:cNvSpPr/>
          <p:nvPr userDrawn="1">
            <p:custDataLst>
              <p:tags r:id="rId6"/>
            </p:custDataLst>
          </p:nvPr>
        </p:nvSpPr>
        <p:spPr>
          <a:xfrm>
            <a:off x="10896600" y="215900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500"/>
                </a:lnTo>
                <a:lnTo>
                  <a:pt x="1295400" y="571500"/>
                </a:lnTo>
                <a:lnTo>
                  <a:pt x="1295400" y="546100"/>
                </a:lnTo>
                <a:lnTo>
                  <a:pt x="25400" y="546100"/>
                </a:lnTo>
                <a:lnTo>
                  <a:pt x="25400" y="25400"/>
                </a:lnTo>
                <a:lnTo>
                  <a:pt x="1295400" y="25400"/>
                </a:lnTo>
                <a:lnTo>
                  <a:pt x="12954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5" name="Rectangle 41707 (Stroke)_#color-2217&amp;9562"/>
          <p:cNvSpPr/>
          <p:nvPr userDrawn="1">
            <p:custDataLst>
              <p:tags r:id="rId7"/>
            </p:custDataLst>
          </p:nvPr>
        </p:nvSpPr>
        <p:spPr>
          <a:xfrm>
            <a:off x="8445500" y="0"/>
            <a:ext cx="3251200" cy="508000"/>
          </a:xfrm>
          <a:custGeom>
            <a:avLst/>
            <a:gdLst/>
            <a:ahLst/>
            <a:cxnLst/>
            <a:rect l="l" t="t" r="r" b="b"/>
            <a:pathLst>
              <a:path w="3251200" h="508000">
                <a:moveTo>
                  <a:pt x="25400" y="0"/>
                </a:moveTo>
                <a:lnTo>
                  <a:pt x="25400" y="482600"/>
                </a:lnTo>
                <a:lnTo>
                  <a:pt x="3225800" y="482600"/>
                </a:lnTo>
                <a:lnTo>
                  <a:pt x="3225800" y="0"/>
                </a:lnTo>
                <a:lnTo>
                  <a:pt x="3251200" y="0"/>
                </a:lnTo>
                <a:lnTo>
                  <a:pt x="3251200" y="508000"/>
                </a:lnTo>
                <a:lnTo>
                  <a:pt x="0" y="508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707 (Stroke)_#color-2217&amp;956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0426700" cy="5537200"/>
          </a:xfrm>
          <a:custGeom>
            <a:avLst/>
            <a:gdLst/>
            <a:ahLst/>
            <a:cxnLst/>
            <a:rect l="l" t="t" r="r" b="b"/>
            <a:pathLst>
              <a:path w="10426700" h="5537200">
                <a:moveTo>
                  <a:pt x="0" y="5511800"/>
                </a:moveTo>
                <a:lnTo>
                  <a:pt x="10401300" y="5511800"/>
                </a:lnTo>
                <a:lnTo>
                  <a:pt x="10401300" y="0"/>
                </a:lnTo>
                <a:lnTo>
                  <a:pt x="10426700" y="0"/>
                </a:lnTo>
                <a:lnTo>
                  <a:pt x="10426700" y="5537200"/>
                </a:lnTo>
                <a:lnTo>
                  <a:pt x="0" y="5537200"/>
                </a:lnTo>
                <a:lnTo>
                  <a:pt x="0" y="551180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10" name="Rectangle 41706 (Stroke)_#color-2217&amp;9568"/>
          <p:cNvSpPr/>
          <p:nvPr userDrawn="1">
            <p:custDataLst>
              <p:tags r:id="rId4"/>
            </p:custDataLst>
          </p:nvPr>
        </p:nvSpPr>
        <p:spPr>
          <a:xfrm>
            <a:off x="8572500" y="4267200"/>
            <a:ext cx="3619500" cy="2590800"/>
          </a:xfrm>
          <a:custGeom>
            <a:avLst/>
            <a:gdLst/>
            <a:ahLst/>
            <a:cxnLst/>
            <a:rect l="l" t="t" r="r" b="b"/>
            <a:pathLst>
              <a:path w="3619500" h="2590800">
                <a:moveTo>
                  <a:pt x="3619500" y="0"/>
                </a:moveTo>
                <a:lnTo>
                  <a:pt x="0" y="0"/>
                </a:lnTo>
                <a:lnTo>
                  <a:pt x="0" y="2590800"/>
                </a:lnTo>
                <a:lnTo>
                  <a:pt x="25400" y="2590800"/>
                </a:lnTo>
                <a:lnTo>
                  <a:pt x="25400" y="25400"/>
                </a:lnTo>
                <a:lnTo>
                  <a:pt x="3619500" y="25400"/>
                </a:lnTo>
                <a:lnTo>
                  <a:pt x="361950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52950" y="3023453"/>
            <a:ext cx="6878250" cy="2374047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452950" y="304800"/>
            <a:ext cx="8643550" cy="2277882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4900" b="1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6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Rectangle 41707 (Stroke)_#color-2217&amp;9583"/>
          <p:cNvSpPr/>
          <p:nvPr userDrawn="1">
            <p:custDataLst>
              <p:tags r:id="rId3"/>
            </p:custDataLst>
          </p:nvPr>
        </p:nvSpPr>
        <p:spPr>
          <a:xfrm>
            <a:off x="2514600" y="0"/>
            <a:ext cx="9677400" cy="5791200"/>
          </a:xfrm>
          <a:custGeom>
            <a:avLst/>
            <a:gdLst/>
            <a:ahLst/>
            <a:cxnLst/>
            <a:rect l="l" t="t" r="r" b="b"/>
            <a:pathLst>
              <a:path w="9677400" h="5791200">
                <a:moveTo>
                  <a:pt x="25400" y="0"/>
                </a:moveTo>
                <a:lnTo>
                  <a:pt x="0" y="0"/>
                </a:lnTo>
                <a:lnTo>
                  <a:pt x="0" y="5791200"/>
                </a:lnTo>
                <a:lnTo>
                  <a:pt x="9677400" y="5791200"/>
                </a:lnTo>
                <a:lnTo>
                  <a:pt x="9677400" y="5765800"/>
                </a:lnTo>
                <a:lnTo>
                  <a:pt x="25400" y="5765800"/>
                </a:lnTo>
                <a:lnTo>
                  <a:pt x="25400" y="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9" name="Rectangle 41706 (Stroke)_#color-2217&amp;9586"/>
          <p:cNvSpPr/>
          <p:nvPr userDrawn="1">
            <p:custDataLst>
              <p:tags r:id="rId4"/>
            </p:custDataLst>
          </p:nvPr>
        </p:nvSpPr>
        <p:spPr>
          <a:xfrm>
            <a:off x="0" y="4521200"/>
            <a:ext cx="4368800" cy="2336800"/>
          </a:xfrm>
          <a:custGeom>
            <a:avLst/>
            <a:gdLst/>
            <a:ahLst/>
            <a:cxnLst/>
            <a:rect l="l" t="t" r="r" b="b"/>
            <a:pathLst>
              <a:path w="4368800" h="2336800">
                <a:moveTo>
                  <a:pt x="4368800" y="2336800"/>
                </a:moveTo>
                <a:lnTo>
                  <a:pt x="4368800" y="0"/>
                </a:lnTo>
                <a:lnTo>
                  <a:pt x="0" y="0"/>
                </a:lnTo>
                <a:lnTo>
                  <a:pt x="0" y="25400"/>
                </a:lnTo>
                <a:lnTo>
                  <a:pt x="4343400" y="25400"/>
                </a:lnTo>
                <a:lnTo>
                  <a:pt x="4343400" y="2336800"/>
                </a:lnTo>
                <a:lnTo>
                  <a:pt x="4368800" y="2336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1710 (Stroke)_#color-2217&amp;9571"/>
          <p:cNvSpPr/>
          <p:nvPr userDrawn="1">
            <p:custDataLst>
              <p:tags r:id="rId12"/>
            </p:custDataLst>
          </p:nvPr>
        </p:nvSpPr>
        <p:spPr>
          <a:xfrm>
            <a:off x="0" y="63373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Rectangle 41708 (Stroke)_#color-2217&amp;9574"/>
          <p:cNvSpPr/>
          <p:nvPr userDrawn="1">
            <p:custDataLst>
              <p:tags r:id="rId13"/>
            </p:custDataLst>
          </p:nvPr>
        </p:nvSpPr>
        <p:spPr>
          <a:xfrm>
            <a:off x="215900" y="6489700"/>
            <a:ext cx="1422400" cy="368300"/>
          </a:xfrm>
          <a:custGeom>
            <a:avLst/>
            <a:gdLst/>
            <a:ahLst/>
            <a:cxnLst/>
            <a:rect l="l" t="t" r="r" b="b"/>
            <a:pathLst>
              <a:path w="1422400" h="368300">
                <a:moveTo>
                  <a:pt x="1422400" y="368300"/>
                </a:moveTo>
                <a:lnTo>
                  <a:pt x="1422400" y="0"/>
                </a:lnTo>
                <a:lnTo>
                  <a:pt x="0" y="0"/>
                </a:lnTo>
                <a:lnTo>
                  <a:pt x="0" y="368300"/>
                </a:lnTo>
                <a:lnTo>
                  <a:pt x="25400" y="368300"/>
                </a:lnTo>
                <a:lnTo>
                  <a:pt x="25400" y="25400"/>
                </a:lnTo>
                <a:lnTo>
                  <a:pt x="1397000" y="25400"/>
                </a:lnTo>
                <a:lnTo>
                  <a:pt x="1397000" y="368300"/>
                </a:lnTo>
                <a:lnTo>
                  <a:pt x="1422400" y="36830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2" name="Rectangle 41706 (Stroke)_#color-2217&amp;9577"/>
          <p:cNvSpPr/>
          <p:nvPr userDrawn="1">
            <p:custDataLst>
              <p:tags r:id="rId14"/>
            </p:custDataLst>
          </p:nvPr>
        </p:nvSpPr>
        <p:spPr>
          <a:xfrm>
            <a:off x="10337800" y="0"/>
            <a:ext cx="1663700" cy="381000"/>
          </a:xfrm>
          <a:custGeom>
            <a:avLst/>
            <a:gdLst/>
            <a:ahLst/>
            <a:cxnLst/>
            <a:rect l="l" t="t" r="r" b="b"/>
            <a:pathLst>
              <a:path w="1663700" h="381000">
                <a:moveTo>
                  <a:pt x="25400" y="0"/>
                </a:moveTo>
                <a:lnTo>
                  <a:pt x="25400" y="355600"/>
                </a:lnTo>
                <a:lnTo>
                  <a:pt x="1638300" y="355600"/>
                </a:lnTo>
                <a:lnTo>
                  <a:pt x="1638300" y="0"/>
                </a:lnTo>
                <a:lnTo>
                  <a:pt x="1663700" y="0"/>
                </a:lnTo>
                <a:lnTo>
                  <a:pt x="1663700" y="381000"/>
                </a:lnTo>
                <a:lnTo>
                  <a:pt x="0" y="381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3" name="Rectangle 41710 (Stroke)_#color-2217&amp;9571"/>
          <p:cNvSpPr/>
          <p:nvPr userDrawn="1">
            <p:custDataLst>
              <p:tags r:id="rId15"/>
            </p:custDataLst>
          </p:nvPr>
        </p:nvSpPr>
        <p:spPr>
          <a:xfrm flipH="1">
            <a:off x="11582400" y="2032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74519"/>
            <a:ext cx="10802112" cy="2103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三角方程与分类讨论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4297680"/>
            <a:ext cx="1080211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81777A"/>
                </a:solidFill>
                <a:latin typeface="华文中宋"/>
                <a:ea typeface="华文中宋"/>
                <a:cs typeface="华文中宋"/>
              </a:rPr>
              <a:t>高一 · 45分钟习题课</a:t>
            </a:r>
          </a:p>
          <a:p>
            <a:pPr algn="l"/>
            <a:r>
              <a:rPr sz="2400" b="0">
                <a:solidFill>
                  <a:srgbClr val="81777A"/>
                </a:solidFill>
                <a:latin typeface="华文中宋"/>
                <a:ea typeface="华文中宋"/>
                <a:cs typeface="华文中宋"/>
              </a:rPr>
              <a:t>人教A版（具体章节未引用）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这节课要解决什么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321560"/>
            <a:ext cx="10802112" cy="2987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解含二倍角的三角方程。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解释变形依据，保留全部分支。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按区间筛选，并说明结果为什么完整。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求出几个解，是否就能说明没有漏解？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先检查已有知识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22421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① 将 sin(2x) 写成含 sin x、cos x 的式子。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② 在 0≤x&lt;2π 内，分别解 sin x=0、cos x=1/2。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独立写出结果，并在草稿上标出角的位置。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用单位圆核对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5172456" cy="14643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sin x=0：x=0、π。</a:t>
            </a:r>
          </a:p>
        </p:txBody>
      </p:sp>
      <p:pic>
        <p:nvPicPr>
          <p:cNvPr id="4" name="Picture 3" descr="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507" y="2818311"/>
            <a:ext cx="3445328" cy="3445328"/>
          </a:xfrm>
          <a:prstGeom prst="rect">
            <a:avLst/>
          </a:prstGeom>
        </p:spPr>
      </p:pic>
      <p:sp>
        <p:nvSpPr>
          <p:cNvPr id="5" name="body-block"/>
          <p:cNvSpPr txBox="1"/>
          <p:nvPr/>
        </p:nvSpPr>
        <p:spPr>
          <a:xfrm>
            <a:off x="6324600" y="1298448"/>
            <a:ext cx="5172456" cy="14643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cos x=1/2：x=π/3、5π/3。</a:t>
            </a:r>
          </a:p>
        </p:txBody>
      </p:sp>
      <p:pic>
        <p:nvPicPr>
          <p:cNvPr id="6" name="Picture 5" descr="cos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163" y="2818311"/>
            <a:ext cx="3445328" cy="3445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判断这一步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18934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原题：在 0≤x&lt;2π 内解 sin(2x)=sin x。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合成解法：两边同除 sin x，得 2cos x=1。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所以 x=π/3 或 5π/3。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这一步需要什么条件？原题保证了吗？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用一个值检验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321560"/>
            <a:ext cx="10802112" cy="2987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x=0 时，sin(2x)=sin x=0，满足原式。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同除 sin x 需要除以0，步骤无效。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x=π 也满足原式，但不在上述结果中。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错误来自公式，还是变形条件？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两条可行的路径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321560"/>
            <a:ext cx="5172456" cy="2643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先分 sin x=0 与 sin x≠0。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非零时才能同除。</a:t>
            </a:r>
          </a:p>
        </p:txBody>
      </p:sp>
      <p:sp>
        <p:nvSpPr>
          <p:cNvPr id="4" name="body-block"/>
          <p:cNvSpPr txBox="1"/>
          <p:nvPr/>
        </p:nvSpPr>
        <p:spPr>
          <a:xfrm>
            <a:off x="6324600" y="2321560"/>
            <a:ext cx="5172456" cy="200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移项并提取公因式。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用乘积为零的性质分支。</a:t>
            </a:r>
          </a:p>
        </p:txBody>
      </p:sp>
      <p:sp>
        <p:nvSpPr>
          <p:cNvPr id="5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哪条路径更便于保留全部情况？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先把方程化为零积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321560"/>
            <a:ext cx="10802112" cy="2987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原式：sin(2x)=sin x，0≤x&lt;2π。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2sin x cos x−sin x=0。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sin x(2cos x−1)=0。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每一步为何等价？接下来要分别解什么？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把原题完整写下来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12805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在 0≤x&lt;2π 内解 sin(2x)=sin x。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已得 sin x(2cos x−1)=0。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独立写出两个分支、区间筛选与完整解集。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第一支来自纵坐标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926844"/>
            <a:ext cx="4050792" cy="4255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sin x=0。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单位圆上，点的纵坐标为0。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0≤x&lt;2π 内：x=0 或 π。</a:t>
            </a:r>
          </a:p>
        </p:txBody>
      </p:sp>
      <p:pic>
        <p:nvPicPr>
          <p:cNvPr id="4" name="Picture 3" descr="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820" y="1298448"/>
            <a:ext cx="4965192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第二支来自横坐标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036064"/>
            <a:ext cx="4050792" cy="38165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2cos x−1=0，即 cos x=1/2。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单位圆上，横坐标为1/2有两个点。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区间内：x=π/3 或 5π/3。</a:t>
            </a:r>
          </a:p>
        </p:txBody>
      </p:sp>
      <p:pic>
        <p:nvPicPr>
          <p:cNvPr id="4" name="Picture 3" descr="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820" y="1298448"/>
            <a:ext cx="4965192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合并之后还要检查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016760"/>
            <a:ext cx="10802112" cy="36210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两分支取并集：{0，π/3，π，5π/3}。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四个值均在 0≤x&lt;2π 内。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例如 x=π/3：sin(2π/3)=sin(π/3)=√3/2。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回代能证明解正确，怎样说明没有漏解？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完整性的依据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1572768"/>
            <a:ext cx="9704832" cy="397763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公式、移项与因式分解均为等价变形。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零积条件覆盖所有可能的分支。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每个分支在题设区间内都已解出。</a:t>
            </a:r>
          </a:p>
        </p:txBody>
      </p:sp>
      <p:sp>
        <p:nvSpPr>
          <p:cNvPr id="4" name="emph-block"/>
          <p:cNvSpPr/>
          <p:nvPr/>
        </p:nvSpPr>
        <p:spPr>
          <a:xfrm>
            <a:off x="694944" y="5550407"/>
            <a:ext cx="10802112" cy="713232"/>
          </a:xfrm>
          <a:prstGeom prst="rect">
            <a:avLst/>
          </a:prstGeom>
          <a:solidFill>
            <a:srgbClr val="F8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lnSpc>
                <a:spcPts val="4464"/>
              </a:lnSpc>
            </a:pPr>
            <a:r>
              <a:rPr sz="3200" b="1">
                <a:solidFill>
                  <a:srgbClr val="9B3447"/>
                </a:solidFill>
                <a:latin typeface="华文中宋"/>
                <a:ea typeface="华文中宋"/>
                <a:cs typeface="华文中宋"/>
              </a:rPr>
              <a:t>成立看检验，完整看等价与分支。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练习一：自己保留分支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在 0≤x&lt;2π 内解 sin x cos x=sin x。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先写分支，再合并解集；说明重复值如何处理。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两支可以有共同的解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851660"/>
            <a:ext cx="10802112" cy="3964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sin x(cos x−1)=0。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sin x=0：x=0、π。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cos x=1：x=0。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解集取并集：{0，π}。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为什么 x=0 不能写两次？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练习二：符号改变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在 0≤x&lt;2π 内解 sin(2x)=−sin x。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哪个分支保持不变？哪个分支改变？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对照变与不变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179827"/>
            <a:ext cx="5172456" cy="200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原题：cos x=1/2。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得 π/3、5π/3。</a:t>
            </a:r>
          </a:p>
        </p:txBody>
      </p:sp>
      <p:sp>
        <p:nvSpPr>
          <p:cNvPr id="4" name="body-block"/>
          <p:cNvSpPr txBox="1"/>
          <p:nvPr/>
        </p:nvSpPr>
        <p:spPr>
          <a:xfrm>
            <a:off x="6324600" y="2179827"/>
            <a:ext cx="5172456" cy="2643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变式：cos x=−1/2。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得 2π/3、4π/3。</a:t>
            </a:r>
          </a:p>
        </p:txBody>
      </p:sp>
      <p:sp>
        <p:nvSpPr>
          <p:cNvPr id="5" name="emph-block"/>
          <p:cNvSpPr/>
          <p:nvPr/>
        </p:nvSpPr>
        <p:spPr>
          <a:xfrm>
            <a:off x="694944" y="5550407"/>
            <a:ext cx="10802112" cy="713232"/>
          </a:xfrm>
          <a:prstGeom prst="rect">
            <a:avLst/>
          </a:prstGeom>
          <a:solidFill>
            <a:srgbClr val="F8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lnSpc>
                <a:spcPts val="4464"/>
              </a:lnSpc>
            </a:pPr>
            <a:r>
              <a:rPr sz="3200" b="1">
                <a:solidFill>
                  <a:srgbClr val="9B3447"/>
                </a:solidFill>
                <a:latin typeface="华文中宋"/>
                <a:ea typeface="华文中宋"/>
                <a:cs typeface="华文中宋"/>
              </a:rPr>
              <a:t>两题的 sin x=0 分支相同。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练习三：区间改变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11484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将原题的范围改为 0&lt;x&lt;π：解 sin(2x)=sin x。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方程结构变了吗？筛选结果如何改变？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退出检测：独立完成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12805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在 0≤x&lt;2π 内解 2cos²x=cos x。</a:t>
            </a:r>
          </a:p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写出变形依据、分支及完整解集。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独立作答；不看前面例题，不提前给提示。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把方法带走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1572768"/>
            <a:ext cx="9704832" cy="42611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先用恒等式统一三角函数。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移项、因式分解，保留零因子的全部分支。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按区间筛选，合并并检验。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同除一个含未知数的式子前，先检查什么？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课后巩固与自查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231643"/>
            <a:ext cx="10802112" cy="3621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必做：在 0≤x&lt;2π 内解 sin(2x)=2sin x。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自查：写出两分支，说明是否出现重复解。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选做：把范围改为 −π≤x&lt;π，重新筛选。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  <p:tag name="KSO_WM_UNIT_TEXT_LAYER_COUNT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331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1"/>
  <p:tag name="KSO_WM_TEMPLATE_THUMBS_INDEX" val="1、9"/>
</p:tagLst>
</file>

<file path=ppt/tags/tag101.xml><?xml version="1.0" encoding="utf-8"?>
<p:tagLst xmlns:p="http://schemas.openxmlformats.org/presentationml/2006/main">
  <p:tag name="commondata" val="eyJoZGlkIjoiMThjMGUwNmZjMTU5NjA3NzRmMjdhODVlMDFjYzYxMDEifQ=="/>
  <p:tag name="resource_record_key" val="{&quot;19&quot;:[20344759],&quot;65&quot;:[2023331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F40B8"/>
      </a:accent1>
      <a:accent2>
        <a:srgbClr val="EB6A28"/>
      </a:accent2>
      <a:accent3>
        <a:srgbClr val="2876EB"/>
      </a:accent3>
      <a:accent4>
        <a:srgbClr val="2FAED6"/>
      </a:accent4>
      <a:accent5>
        <a:srgbClr val="2899EB"/>
      </a:accent5>
      <a:accent6>
        <a:srgbClr val="9163DE"/>
      </a:accent6>
      <a:hlink>
        <a:srgbClr val="658BD5"/>
      </a:hlink>
      <a:folHlink>
        <a:srgbClr val="A16AA5"/>
      </a:folHlink>
    </a:clrScheme>
    <a:fontScheme name="自定义 46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演示</Application>
  <PresentationFormat>宽屏</PresentationFormat>
  <Paragraphs>126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Cambria Math</vt:lpstr>
      <vt:lpstr>MS Mincho</vt:lpstr>
      <vt:lpstr>Yu Gothic UI</vt:lpstr>
      <vt:lpstr>华文中宋</vt:lpstr>
      <vt:lpstr>微软雅黑</vt:lpstr>
      <vt:lpstr>Arial Unicode MS</vt:lpstr>
      <vt:lpstr>MiSans Demibold</vt:lpstr>
      <vt:lpstr>Segoe Print</vt:lpstr>
      <vt:lpstr>Calibri</vt:lpstr>
      <vt:lpstr>WPS</vt:lpstr>
      <vt:lpstr>1_Office 主题​​</vt:lpstr>
      <vt:lpstr>Equation.KSEE3</vt:lpstr>
      <vt:lpstr>Equation.KSEE3</vt:lpstr>
      <vt:lpstr>导数的概念及其意义</vt:lpstr>
      <vt:lpstr>温故知新</vt:lpstr>
      <vt:lpstr>两种速度</vt:lpstr>
      <vt:lpstr>以抛物线                  为例</vt:lpstr>
      <vt:lpstr>定量看</vt:lpstr>
      <vt:lpstr>引入无穷小量与极限</vt:lpstr>
      <vt:lpstr>导数的概念</vt:lpstr>
      <vt:lpstr>导数的意义</vt:lpstr>
      <vt:lpstr>实践探究</vt:lpstr>
      <vt:lpstr>课堂小结</vt:lpstr>
      <vt:lpstr>作业布置</vt:lpstr>
      <vt:lpstr>教学设计阐述</vt:lpstr>
      <vt:lpstr>教学重难点及解决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三角方程与分类讨论 · 45分钟习题课</dc:title>
  <dc:creator>张耀中</dc:creator>
  <cp:lastModifiedBy>张耀中</cp:lastModifiedBy>
  <cp:revision>32</cp:revision>
  <dcterms:created xsi:type="dcterms:W3CDTF">2023-08-09T12:44:00Z</dcterms:created>
  <dcterms:modified xsi:type="dcterms:W3CDTF">2026-03-06T05:21:21Z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0E85073815854EF0A955AC7BE247D992_13</vt:lpwstr>
  </property>
  <property fmtid="{D5CDD505-2E9C-101B-9397-08002B2CF9AE}" pid="3" name="KSOProductBuildVer">
    <vt:lpwstr>2052-12.1.0.25222</vt:lpwstr>
  </property>
</Properties>
</file>